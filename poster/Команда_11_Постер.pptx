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728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656000"/>
            <a:ext cx="12492000" cy="7978421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90800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5207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646717"/>
            <a:ext cx="11988000" cy="7208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1F2233"/>
                </a:solidFill>
                <a:latin typeface="Inter"/>
              </a:rPr>
              <a:t>Полисомнография (PSG) точна, но для её проведения нужна лаборатория. </a:t>
            </a:r>
            <a:r>
              <a:rPr sz="2000" b="1">
                <a:solidFill>
                  <a:srgbClr val="434B9A"/>
                </a:solidFill>
                <a:latin typeface="Inter"/>
              </a:rPr>
              <a:t>Можно ли размечать сон по смарт-часам?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475615"/>
            <a:ext cx="11988000" cy="25082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Статья:</a:t>
            </a:r>
            <a:r>
              <a:rPr sz="2000" b="0">
                <a:solidFill>
                  <a:srgbClr val="1F2233"/>
                </a:solidFill>
                <a:latin typeface="Inter"/>
              </a:rPr>
              <a:t> Walch et al., SLEEP 2019 (University of Michigan): своё приложение для Apple Watch Series 2/3 дало открытые сырые данные ускорения и пульса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2000" b="0">
                <a:solidFill>
                  <a:srgbClr val="1F2233"/>
                </a:solidFill>
                <a:latin typeface="Inter"/>
              </a:rPr>
              <a:t> 31 человек (21 женщина, 29.4 ± 8.5 года): ночь с PSG + неделя с часами до неё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2000" b="0">
                <a:solidFill>
                  <a:srgbClr val="1F2233"/>
                </a:solidFill>
                <a:latin typeface="Inter"/>
              </a:rPr>
              <a:t> каждая эпоха 30 с — сон / бодрствование и бодрствование / NREM / REM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Результат статьи:</a:t>
            </a:r>
            <a:r>
              <a:rPr sz="2000" b="0">
                <a:solidFill>
                  <a:srgbClr val="1F2233"/>
                </a:solidFill>
                <a:latin typeface="Inter"/>
              </a:rPr>
              <a:t> 90% эпох верно (93% сна, 59.6% бодрствования); три класса — accuracy ≈ 72%; проверка на 188 людях из MESA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120" y="14983907"/>
            <a:ext cx="6233760" cy="267161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7745518"/>
            <a:ext cx="11988000" cy="6127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Испытуемый 46343. Сверху вниз: движение (activity counts, усл. ед.), пульс (уд/мин), стадии по PSG; по оси x — часы от начала записи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6000" y="18940421"/>
            <a:ext cx="12492000" cy="53419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8000" y="19192421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2. Признаки (по одному значению на эпоху)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28000" y="19805139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19931139"/>
            <a:ext cx="11988000" cy="286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motion</a:t>
            </a:r>
            <a:r>
              <a:rPr sz="2000" b="0">
                <a:solidFill>
                  <a:srgbClr val="1F2233"/>
                </a:solidFill>
                <a:latin typeface="Inter"/>
              </a:rPr>
              <a:t> — activity counts: ускорение (ось z) → фильтр 3–11 Гц → суммы за 15 с → сглаживание окном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hr</a:t>
            </a:r>
            <a:r>
              <a:rPr sz="2000" b="0">
                <a:solidFill>
                  <a:srgbClr val="1F2233"/>
                </a:solidFill>
                <a:latin typeface="Inter"/>
              </a:rPr>
              <a:t> — вариабельность пульса: стандартное отклонение за ≈ 10 мин после полосового фильтра (разность гауссиан)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clock</a:t>
            </a:r>
            <a:r>
              <a:rPr sz="2000" b="0">
                <a:solidFill>
                  <a:srgbClr val="1F2233"/>
                </a:solidFill>
                <a:latin typeface="Inter"/>
              </a:rPr>
              <a:t> — суточный ритм: шаги за прошлые дни → «свет» → модель Forger (1999);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В статье сравнивали и </a:t>
            </a:r>
            <a:r>
              <a:rPr sz="2000" b="1">
                <a:solidFill>
                  <a:srgbClr val="434B9A"/>
                </a:solidFill>
                <a:latin typeface="Inter"/>
              </a:rPr>
              <a:t>cosine</a:t>
            </a:r>
            <a:r>
              <a:rPr sz="2000" b="0">
                <a:solidFill>
                  <a:srgbClr val="1F2233"/>
                </a:solidFill>
                <a:latin typeface="Inter"/>
              </a:rPr>
              <a:t> (волна 24 ч), и </a:t>
            </a:r>
            <a:r>
              <a:rPr sz="2000" b="1">
                <a:solidFill>
                  <a:srgbClr val="434B9A"/>
                </a:solidFill>
                <a:latin typeface="Inter"/>
              </a:rPr>
              <a:t>time</a:t>
            </a:r>
            <a:r>
              <a:rPr sz="2000" b="0">
                <a:solidFill>
                  <a:srgbClr val="1F2233"/>
                </a:solidFill>
                <a:latin typeface="Inter"/>
              </a:rPr>
              <a:t> (часы от отбоя)</a:t>
            </a:r>
          </a:p>
        </p:txBody>
      </p:sp>
      <p:pic>
        <p:nvPicPr>
          <p:cNvPr id="34" name="Picture 33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5664" y="22799880"/>
            <a:ext cx="3112670" cy="792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628000" y="23699880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x — модель внутренних часов; clock = 0 — человек лёг, 1 — дно ритма (≈ 4 ч ночи)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6000" y="24588401"/>
            <a:ext cx="12492000" cy="441505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28000" y="24840401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3. Модели и как проверяем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28000" y="25453119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579119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20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MLP (15, 15, 15); </a:t>
            </a:r>
            <a:r>
              <a:rPr sz="20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2000" b="0">
                <a:solidFill>
                  <a:srgbClr val="1F2233"/>
                </a:solidFill>
                <a:latin typeface="Inter"/>
              </a:rPr>
              <a:t> в статье Monte Carlo 70/30; у нас leave-one-subject-out (31 фолд)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2000" b="0">
                <a:solidFill>
                  <a:srgbClr val="1F2233"/>
                </a:solidFill>
                <a:latin typeface="Inter"/>
              </a:rPr>
              <a:t> на P(сон) — найти 90% сна; </a:t>
            </a:r>
            <a:r>
              <a:rPr sz="2000" b="1">
                <a:solidFill>
                  <a:srgbClr val="434B9A"/>
                </a:solidFill>
                <a:latin typeface="Inter"/>
              </a:rPr>
              <a:t>метрики:</a:t>
            </a:r>
            <a:r>
              <a:rPr sz="2000" b="0">
                <a:solidFill>
                  <a:srgbClr val="1F2233"/>
                </a:solidFill>
                <a:latin typeface="Inter"/>
              </a:rPr>
              <a:t> accuracy, κ, AUC + AP, PPV, F1</a:t>
            </a:r>
          </a:p>
        </p:txBody>
      </p:sp>
      <p:pic>
        <p:nvPicPr>
          <p:cNvPr id="40" name="Picture 39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2563" y="27287314"/>
            <a:ext cx="5398872" cy="648000"/>
          </a:xfrm>
          <a:prstGeom prst="rect">
            <a:avLst/>
          </a:prstGeom>
        </p:spPr>
      </p:pic>
      <p:pic>
        <p:nvPicPr>
          <p:cNvPr id="41" name="Picture 40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3026" y="28043314"/>
            <a:ext cx="1572824" cy="684000"/>
          </a:xfrm>
          <a:prstGeom prst="rect">
            <a:avLst/>
          </a:prstGeom>
        </p:spPr>
      </p:pic>
      <p:pic>
        <p:nvPicPr>
          <p:cNvPr id="42" name="Picture 41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5850" y="28043314"/>
            <a:ext cx="2965123" cy="6840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2376000" y="29309454"/>
            <a:ext cx="12492000" cy="1057854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28000" y="29561454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28000" y="3017417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28000" y="30300172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700" b="0">
                <a:solidFill>
                  <a:srgbClr val="1F2233"/>
                </a:solidFill>
                <a:latin typeface="Inter"/>
              </a:rPr>
              <a:t> (motion + hr + clock; порог подобран так, чтобы найти 90% сна):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2628000" y="30714553"/>
          <a:ext cx="11987995" cy="29729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02534"/>
                <a:gridCol w="791287"/>
                <a:gridCol w="989108"/>
                <a:gridCol w="949544"/>
                <a:gridCol w="791287"/>
                <a:gridCol w="830851"/>
                <a:gridCol w="830851"/>
                <a:gridCol w="870415"/>
                <a:gridCol w="791287"/>
                <a:gridCol w="949544"/>
                <a:gridCol w="791287"/>
              </a:tblGrid>
              <a:tr h="360336">
                <a:tc>
                  <a:txBody>
                    <a:bodyPr/>
                    <a:lstStyle/>
                    <a:p/>
                  </a:txBody>
                  <a:tcPr anchor="ctr" marT="18000" marB="18000">
                    <a:solidFill>
                      <a:srgbClr val="FFFFFF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anchor="ctr" marT="18000" marB="18000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anchor="ctr" marT="18000" marB="18000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684673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Логистическая регрессия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k ближайших соседей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628000" y="33795470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700" b="0">
                <a:solidFill>
                  <a:srgbClr val="1F2233"/>
                </a:solidFill>
                <a:latin typeface="Inter"/>
              </a:rPr>
              <a:t> (найдено 60% бодрствования; второй порог уравнивает найденные NREM и REM):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2628000" y="34209851"/>
          <a:ext cx="11988000" cy="29729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818400"/>
                <a:gridCol w="1065600"/>
                <a:gridCol w="1065600"/>
                <a:gridCol w="1110000"/>
                <a:gridCol w="888000"/>
                <a:gridCol w="976800"/>
                <a:gridCol w="932400"/>
                <a:gridCol w="1065600"/>
                <a:gridCol w="1065600"/>
              </a:tblGrid>
              <a:tr h="360336">
                <a:tc>
                  <a:txBody>
                    <a:bodyPr/>
                    <a:lstStyle/>
                    <a:p/>
                  </a:txBody>
                  <a:tcPr anchor="ctr" marT="18000" marB="18000"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anchor="ctr" marT="18000" marB="18000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anchor="ctr" marT="18000" marB="18000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684673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8800" marB="28800" anchor="ctr">
                    <a:solidFill>
                      <a:srgbClr val="434B9A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Логистическая регрессия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0.337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k ближайших соседей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0.323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0.630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0.319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8800" marB="28800" anchor="ctr">
                    <a:solidFill>
                      <a:srgbClr val="FFFFFF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0.639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0.330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8800" marB="28800" anchor="ctr">
                    <a:solidFill>
                      <a:srgbClr val="F1F2FA"/>
                    </a:solidFill>
                  </a:tcPr>
                </a:tc>
              </a:tr>
              <a:tr h="385581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0.646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0.342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8800" marB="288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628000" y="37290767"/>
            <a:ext cx="11988000" cy="242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AUC и доли стадий совпали со статьёй</a:t>
            </a:r>
            <a:r>
              <a:rPr sz="2000" b="0">
                <a:solidFill>
                  <a:srgbClr val="1F2233"/>
                </a:solidFill>
                <a:latin typeface="Inter"/>
              </a:rPr>
              <a:t> (±0.01–0.02); CatBoost лучший,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2000" b="0">
                <a:solidFill>
                  <a:srgbClr val="1F2233"/>
                </a:solidFill>
                <a:latin typeface="Inter"/>
              </a:rPr>
              <a:t> «всегда сон» даёт 0.916 &gt; 0.88 у моделей (бодрствование — 8.4% эпох)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Верна лишь </a:t>
            </a:r>
            <a:r>
              <a:rPr sz="2000" b="1">
                <a:solidFill>
                  <a:srgbClr val="434B9A"/>
                </a:solidFill>
                <a:latin typeface="Inter"/>
              </a:rPr>
              <a:t>каждая третья</a:t>
            </a:r>
            <a:r>
              <a:rPr sz="2000" b="0">
                <a:solidFill>
                  <a:srgbClr val="1F2233"/>
                </a:solidFill>
                <a:latin typeface="Inter"/>
              </a:rPr>
              <a:t> метка «бодрствование» (PPV 0.36–0.39); REM — самый трудный класс (F1 ≈ 0.5)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408000" y="10656000"/>
            <a:ext cx="12492000" cy="932471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660000" y="1090800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660000" y="115207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76136" y="11646717"/>
            <a:ext cx="6355726" cy="864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660000" y="12618717"/>
            <a:ext cx="11988000" cy="27895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Модель переобучается на всех 7 непустых подмножествах {motion, hr, clock}; вклад признака — средний прирост метрики по всем порядкам добавления (сумма вкладов = качество полной модели − случайной)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motion — около половины</a:t>
            </a:r>
            <a:r>
              <a:rPr sz="2000" b="0">
                <a:solidFill>
                  <a:srgbClr val="1F2233"/>
                </a:solidFill>
                <a:latin typeface="Inter"/>
              </a:rPr>
              <a:t> прироста, </a:t>
            </a:r>
            <a:r>
              <a:rPr sz="2000" b="1">
                <a:solidFill>
                  <a:srgbClr val="434B9A"/>
                </a:solidFill>
                <a:latin typeface="Inter"/>
              </a:rPr>
              <a:t>clock — четверть–треть</a:t>
            </a:r>
            <a:r>
              <a:rPr sz="2000" b="0">
                <a:solidFill>
                  <a:srgbClr val="1F2233"/>
                </a:solidFill>
                <a:latin typeface="Inter"/>
              </a:rPr>
              <a:t>, </a:t>
            </a:r>
            <a:r>
              <a:rPr sz="2000" b="1">
                <a:solidFill>
                  <a:srgbClr val="434B9A"/>
                </a:solidFill>
                <a:latin typeface="Inter"/>
              </a:rPr>
              <a:t>hr — меньше всех</a:t>
            </a:r>
            <a:r>
              <a:rPr sz="2000" b="0">
                <a:solidFill>
                  <a:srgbClr val="1F2233"/>
                </a:solidFill>
                <a:latin typeface="Inter"/>
              </a:rPr>
              <a:t> (для поиска бодрствования — 12–18%): одинаково у всех пяти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SHAP по эпохам:</a:t>
            </a:r>
            <a:r>
              <a:rPr sz="2000" b="0">
                <a:solidFill>
                  <a:srgbClr val="1F2233"/>
                </a:solidFill>
                <a:latin typeface="Inter"/>
              </a:rPr>
              <a:t> покой → сон, движение → бодрствование, начало ночи → бодрствование, ровный пульс → чуть к сну</a:t>
            </a:r>
          </a:p>
        </p:txBody>
      </p:sp>
      <p:pic>
        <p:nvPicPr>
          <p:cNvPr id="56" name="Picture 55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79280" y="15408258"/>
            <a:ext cx="10549440" cy="3918363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15408000" y="20286718"/>
            <a:ext cx="12492000" cy="1488972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660000" y="2053871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660000" y="2115143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660000" y="21277436"/>
            <a:ext cx="11988000" cy="10813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1F2233"/>
                </a:solidFill>
                <a:latin typeface="Inter"/>
              </a:rPr>
              <a:t>Эксперимент команды: MLP (15, 15, 15), порог P(сон) ≥ 0.5, признаки motion, hr и время ночи. Добавили 3 «быстрых» признака по 5-секундным отрезкам: m — корень из суммы дисперсий ускорения по осям, τ = 0.02 g, окно W = [t − 15, t + 45) с</a:t>
            </a:r>
          </a:p>
        </p:txBody>
      </p:sp>
      <p:pic>
        <p:nvPicPr>
          <p:cNvPr id="61" name="Picture 60" descr="formula_fpea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60000" y="22466782"/>
            <a:ext cx="3417262" cy="779180"/>
          </a:xfrm>
          <a:prstGeom prst="rect">
            <a:avLst/>
          </a:prstGeom>
        </p:spPr>
      </p:pic>
      <p:pic>
        <p:nvPicPr>
          <p:cNvPr id="62" name="Picture 61" descr="formula_factiv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754810" y="22466782"/>
            <a:ext cx="4912133" cy="779180"/>
          </a:xfrm>
          <a:prstGeom prst="rect">
            <a:avLst/>
          </a:prstGeom>
        </p:spPr>
      </p:pic>
      <p:pic>
        <p:nvPicPr>
          <p:cNvPr id="63" name="Picture 62" descr="formula_fh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344492" y="22466782"/>
            <a:ext cx="2303507" cy="77918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5660000" y="23353962"/>
            <a:ext cx="11988000" cy="13477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f_peak</a:t>
            </a:r>
            <a:r>
              <a:rPr sz="2000" b="0">
                <a:solidFill>
                  <a:srgbClr val="1F2233"/>
                </a:solidFill>
                <a:latin typeface="Inter"/>
              </a:rPr>
              <a:t> — самый сильный короткий всплеск движения в эпохе (логарифм гасит выбросы)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f_active</a:t>
            </a:r>
            <a:r>
              <a:rPr sz="2000" b="0">
                <a:solidFill>
                  <a:srgbClr val="1F2233"/>
                </a:solidFill>
                <a:latin typeface="Inter"/>
              </a:rPr>
              <a:t> — как часто двигались в течение минуты: доля 5-секундных отрезков с m ≥ τ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f_HR</a:t>
            </a:r>
            <a:r>
              <a:rPr sz="2000" b="0">
                <a:solidFill>
                  <a:srgbClr val="1F2233"/>
                </a:solidFill>
                <a:latin typeface="Inter"/>
              </a:rPr>
              <a:t> — пульс за минуту относительно медианы записи: +0.1 — на 10% выше обычного</a:t>
            </a:r>
          </a:p>
        </p:txBody>
      </p:sp>
      <p:pic>
        <p:nvPicPr>
          <p:cNvPr id="65" name="Picture 64" descr="experiment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38920" y="24701708"/>
            <a:ext cx="9830160" cy="3667416"/>
          </a:xfrm>
          <a:prstGeom prst="rect">
            <a:avLst/>
          </a:prstGeom>
        </p:spPr>
      </p:pic>
      <p:pic>
        <p:nvPicPr>
          <p:cNvPr id="66" name="Picture 65" descr="shap_fast_righ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660000" y="28477125"/>
            <a:ext cx="5415120" cy="4928079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660000" y="33495205"/>
            <a:ext cx="541512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291120" y="28677639"/>
            <a:ext cx="6356880" cy="50314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Лучше всего — исходные + 3 быстрых признака:</a:t>
            </a:r>
            <a:r>
              <a:rPr sz="2000" b="0">
                <a:solidFill>
                  <a:srgbClr val="1F2233"/>
                </a:solidFill>
                <a:latin typeface="Inter"/>
              </a:rPr>
              <a:t> κ 0.496 → 0.534, AUC 0.908 → 0.917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Помогают соседние эпохи и окно; повтор примеров бодрствования и признаки без сглаживания — нет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SHAP:</a:t>
            </a:r>
            <a:r>
              <a:rPr sz="2000" b="0">
                <a:solidFill>
                  <a:srgbClr val="1F2233"/>
                </a:solidFill>
                <a:latin typeface="Inter"/>
              </a:rPr>
              <a:t> «доля движения за минуту» (|SHAP| 0.024) работает почти как motion (0.034), пик движения и относительный пульс — слабее (0.009 и 0.005); время ночи остаётся самым сильным признаком (0.049)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Окно заглядывает на 15 с вперёд, медиана пульса — по всей записи: это анализ готовой записи, а не онлайн-предсказание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660000" y="33909586"/>
            <a:ext cx="11988000" cy="6127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1F2233"/>
                </a:solidFill>
                <a:latin typeface="Inter"/>
              </a:rPr>
              <a:t>Те же признаки добавлены к </a:t>
            </a:r>
            <a:r>
              <a:rPr sz="1700" b="1">
                <a:solidFill>
                  <a:srgbClr val="434B9A"/>
                </a:solidFill>
                <a:latin typeface="Inter"/>
              </a:rPr>
              <a:t>CatBoost</a:t>
            </a:r>
            <a:r>
              <a:rPr sz="1700" b="0">
                <a:solidFill>
                  <a:srgbClr val="1F2233"/>
                </a:solidFill>
                <a:latin typeface="Inter"/>
              </a:rPr>
              <a:t> и нейросети в общей постановке проекта (motion, hr, clock; LOSO): python repro/10_fast_features.py — после запуска таблица появится здесь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5408000" y="35482445"/>
            <a:ext cx="12492000" cy="440555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660000" y="35734445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660000" y="36347163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660000" y="36473163"/>
            <a:ext cx="11988000" cy="286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1.</a:t>
            </a:r>
            <a:r>
              <a:rPr sz="2000" b="0">
                <a:solidFill>
                  <a:srgbClr val="1F2233"/>
                </a:solidFill>
                <a:latin typeface="Inter"/>
              </a:rPr>
              <a:t> Воспроизвели статью: AUC 0.86–0.88 и доли найденных стадий — как у авторов; CatBoost — AUC 0.880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2.</a:t>
            </a:r>
            <a:r>
              <a:rPr sz="2000" b="0">
                <a:solidFill>
                  <a:srgbClr val="1F2233"/>
                </a:solidFill>
                <a:latin typeface="Inter"/>
              </a:rPr>
              <a:t> Главное — движение и время ночи (clock); пульс добавляет меньше всего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3.</a:t>
            </a:r>
            <a:r>
              <a:rPr sz="2000" b="0">
                <a:solidFill>
                  <a:srgbClr val="1F2233"/>
                </a:solidFill>
                <a:latin typeface="Inter"/>
              </a:rPr>
              <a:t> Слабое место — тихое бодрствование без движения и REM; accuracy это скрывает,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4.</a:t>
            </a:r>
            <a:r>
              <a:rPr sz="2000" b="0">
                <a:solidFill>
                  <a:srgbClr val="1F2233"/>
                </a:solidFill>
                <a:latin typeface="Inter"/>
              </a:rPr>
              <a:t> Быстрые признаки движения и пульса поднимают κ MLP с 0.496 до 0.534 и AUC с 0.908 до 0.917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6000" y="40104000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