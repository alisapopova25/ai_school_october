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6" r:id="rId2"/>
  </p:sldIdLst>
  <p:sldSz cx="30276000" cy="42804000"/>
  <p:notesSz cx="6858000" cy="9144000"/>
  <p:embeddedFontLst>
    <p:embeddedFont>
      <p:font typeface="Inter" panose="02000503000000020004" pitchFamily="2" charset="0"/>
      <p:regular r:id="rId4"/>
      <p:bold r:id="rId5"/>
    </p:embeddedFont>
    <p:embeddedFont>
      <p:font typeface="Calibri" panose="020F0502020204030204" pitchFamily="34" charset="0"/>
      <p:regular r:id="rId6"/>
      <p:bold r:id="rId7"/>
      <p:italic r:id="rId8"/>
      <p:boldItalic r:id="rId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Редактируемый шаблон финальной защиты проектной школы ИИ360. A0, 841 × 1189 мм, вертикальный. Обновлённый стиль взят из Figma, узел 1171:115: https://www.figma.com/design/fzcKsf2fHJIrk7iCM4UQ1L/?node-id=1171-115 . Логотип без овала, оригинальная фиолетовая контурная композиция, шрифт Inter. Заполняемые поля: номер команды, имя и фамилия ментора, компания, имена и фамилии студентов и вуз каждого, название статьи. Название статьи рассчитано на три строки. Строки авторов можно добавлять и удалять. Основную часть студенты оформляют самостоятельно. Все текстовые поля — отдельные редактируемые объекты. Декоративная композиция и логотип — оригинальные графические объекты. source_status: codex-inference. updated: 2026-10-06.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7120729" cy="25206397"/>
          </a:xfrm>
          <a:prstGeom prst="rect">
            <a:avLst/>
          </a:prstGeom>
        </p:spPr>
      </p:pic>
      <p:sp>
        <p:nvSpPr>
          <p:cNvPr id="2" name="Рамка постера">
            <a:extLst>
              <a:ext uri="{FF2B5EF4-FFF2-40B4-BE49-F238E27FC236}">
                <a16:creationId xmlns:a16="http://schemas.microsoft.com/office/drawing/2014/main" id="{5FC3877B-F97D-496D-B4B6-393FC7D4B18D}"/>
              </a:ext>
            </a:extLst>
          </p:cNvPr>
          <p:cNvSpPr>
            <a:spLocks noGrp="1"/>
          </p:cNvSpPr>
          <p:nvPr/>
        </p:nvSpPr>
        <p:spPr>
          <a:xfrm>
            <a:off x="1296000" y="1296000"/>
            <a:ext cx="27684000" cy="40212000"/>
          </a:xfrm>
          <a:prstGeom prst="rect">
            <a:avLst/>
          </a:prstGeom>
          <a:noFill/>
          <a:ln w="6350">
            <a:solidFill>
              <a:srgbClr val="62666A"/>
            </a:solidFill>
          </a:ln>
        </p:spPr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33598" y="2436000"/>
            <a:ext cx="6088178" cy="976480"/>
          </a:xfrm>
          <a:prstGeom prst="rect">
            <a:avLst/>
          </a:prstGeom>
        </p:spPr>
      </p:pic>
      <p:sp>
        <p:nvSpPr>
          <p:cNvPr id="4" name="Номер команды">
            <a:extLst>
              <a:ext uri="{FF2B5EF4-FFF2-40B4-BE49-F238E27FC236}">
                <a16:creationId xmlns:a16="http://schemas.microsoft.com/office/drawing/2014/main" id="{E157F3AA-CBAC-49FB-91D8-FBDA29241A4D}"/>
              </a:ext>
            </a:extLst>
          </p:cNvPr>
          <p:cNvSpPr>
            <a:spLocks noGrp="1"/>
          </p:cNvSpPr>
          <p:nvPr/>
        </p:nvSpPr>
        <p:spPr>
          <a:xfrm>
            <a:off x="10728000" y="2448000"/>
            <a:ext cx="7812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КОМАНДА № 11</a:t>
            </a:r>
          </a:p>
        </p:txBody>
      </p:sp>
      <p:sp>
        <p:nvSpPr>
          <p:cNvPr id="5" name="Авторы — подпись">
            <a:extLst>
              <a:ext uri="{FF2B5EF4-FFF2-40B4-BE49-F238E27FC236}">
                <a16:creationId xmlns:a16="http://schemas.microsoft.com/office/drawing/2014/main" id="{9008C856-E4A6-4EEE-A6CC-42E14E9782ED}"/>
              </a:ext>
            </a:extLst>
          </p:cNvPr>
          <p:cNvSpPr>
            <a:spLocks noGrp="1"/>
          </p:cNvSpPr>
          <p:nvPr/>
        </p:nvSpPr>
        <p:spPr>
          <a:xfrm>
            <a:off x="10728000" y="3852000"/>
            <a:ext cx="7812000" cy="64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АВТОРЫ</a:t>
            </a:r>
          </a:p>
        </p:txBody>
      </p:sp>
      <p:sp>
        <p:nvSpPr>
          <p:cNvPr id="6" name="Маркер автора 1">
            <a:extLst>
              <a:ext uri="{FF2B5EF4-FFF2-40B4-BE49-F238E27FC236}">
                <a16:creationId xmlns:a16="http://schemas.microsoft.com/office/drawing/2014/main" id="{316581A8-0CB3-400C-BCE6-59D5D32F0728}"/>
              </a:ext>
            </a:extLst>
          </p:cNvPr>
          <p:cNvSpPr>
            <a:spLocks noGrp="1"/>
          </p:cNvSpPr>
          <p:nvPr/>
        </p:nvSpPr>
        <p:spPr>
          <a:xfrm>
            <a:off x="10728000" y="4849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7" name="Автор 1 — имя, фамилия, вуз">
            <a:extLst>
              <a:ext uri="{FF2B5EF4-FFF2-40B4-BE49-F238E27FC236}">
                <a16:creationId xmlns:a16="http://schemas.microsoft.com/office/drawing/2014/main" id="{D26B2B05-831E-464E-8240-6D7837ED916B}"/>
              </a:ext>
            </a:extLst>
          </p:cNvPr>
          <p:cNvSpPr>
            <a:spLocks noGrp="1"/>
          </p:cNvSpPr>
          <p:nvPr/>
        </p:nvSpPr>
        <p:spPr>
          <a:xfrm>
            <a:off x="10980000" y="4590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Артём Илларионов, ИТМО</a:t>
            </a:r>
          </a:p>
        </p:txBody>
      </p:sp>
      <p:sp>
        <p:nvSpPr>
          <p:cNvPr id="8" name="Маркер автора 2">
            <a:extLst>
              <a:ext uri="{FF2B5EF4-FFF2-40B4-BE49-F238E27FC236}">
                <a16:creationId xmlns:a16="http://schemas.microsoft.com/office/drawing/2014/main" id="{EEC4FCED-3B13-4D07-BDC1-12845FB34122}"/>
              </a:ext>
            </a:extLst>
          </p:cNvPr>
          <p:cNvSpPr>
            <a:spLocks noGrp="1"/>
          </p:cNvSpPr>
          <p:nvPr/>
        </p:nvSpPr>
        <p:spPr>
          <a:xfrm>
            <a:off x="10728000" y="54684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9" name="Автор 2 — имя, фамилия, вуз">
            <a:extLst>
              <a:ext uri="{FF2B5EF4-FFF2-40B4-BE49-F238E27FC236}">
                <a16:creationId xmlns:a16="http://schemas.microsoft.com/office/drawing/2014/main" id="{EC8AD367-93C6-46FE-9B77-66DC16D6BA3F}"/>
              </a:ext>
            </a:extLst>
          </p:cNvPr>
          <p:cNvSpPr>
            <a:spLocks noGrp="1"/>
          </p:cNvSpPr>
          <p:nvPr/>
        </p:nvSpPr>
        <p:spPr>
          <a:xfrm>
            <a:off x="10980000" y="52092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Алиса Попова, МФТИ</a:t>
            </a:r>
          </a:p>
        </p:txBody>
      </p:sp>
      <p:sp>
        <p:nvSpPr>
          <p:cNvPr id="10" name="Маркер автора 3">
            <a:extLst>
              <a:ext uri="{FF2B5EF4-FFF2-40B4-BE49-F238E27FC236}">
                <a16:creationId xmlns:a16="http://schemas.microsoft.com/office/drawing/2014/main" id="{C488C224-A1E2-4E81-B2F8-1126B0356DD6}"/>
              </a:ext>
            </a:extLst>
          </p:cNvPr>
          <p:cNvSpPr>
            <a:spLocks noGrp="1"/>
          </p:cNvSpPr>
          <p:nvPr/>
        </p:nvSpPr>
        <p:spPr>
          <a:xfrm>
            <a:off x="10728000" y="60876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1" name="Автор 3 — имя, фамилия, вуз">
            <a:extLst>
              <a:ext uri="{FF2B5EF4-FFF2-40B4-BE49-F238E27FC236}">
                <a16:creationId xmlns:a16="http://schemas.microsoft.com/office/drawing/2014/main" id="{382887BD-1277-4439-AD97-5E773D6DC76D}"/>
              </a:ext>
            </a:extLst>
          </p:cNvPr>
          <p:cNvSpPr>
            <a:spLocks noGrp="1"/>
          </p:cNvSpPr>
          <p:nvPr/>
        </p:nvSpPr>
        <p:spPr>
          <a:xfrm>
            <a:off x="10980000" y="58284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Андрей Москович, СПбГУ</a:t>
            </a:r>
          </a:p>
        </p:txBody>
      </p:sp>
      <p:sp>
        <p:nvSpPr>
          <p:cNvPr id="12" name="Маркер автора 4">
            <a:extLst>
              <a:ext uri="{FF2B5EF4-FFF2-40B4-BE49-F238E27FC236}">
                <a16:creationId xmlns:a16="http://schemas.microsoft.com/office/drawing/2014/main" id="{15AAB4C6-FF6B-4B20-A955-28ED10302616}"/>
              </a:ext>
            </a:extLst>
          </p:cNvPr>
          <p:cNvSpPr>
            <a:spLocks noGrp="1"/>
          </p:cNvSpPr>
          <p:nvPr/>
        </p:nvSpPr>
        <p:spPr>
          <a:xfrm>
            <a:off x="10728000" y="67068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2" name="Маркер автора 6">
            <a:extLst>
              <a:ext uri="{FF2B5EF4-FFF2-40B4-BE49-F238E27FC236}">
                <a16:creationId xmlns:a16="http://schemas.microsoft.com/office/drawing/2014/main" id="{15AAB4C6-FF6B-4B20-A955-28ED10302616}"/>
              </a:ext>
            </a:extLst>
          </p:cNvPr>
          <p:cNvSpPr>
            <a:spLocks noGrp="1"/>
          </p:cNvSpPr>
          <p:nvPr/>
        </p:nvSpPr>
        <p:spPr>
          <a:xfrm>
            <a:off x="10728000" y="7945200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2" name="Маркер автора 5">
            <a:extLst>
              <a:ext uri="{FF2B5EF4-FFF2-40B4-BE49-F238E27FC236}">
                <a16:creationId xmlns:a16="http://schemas.microsoft.com/office/drawing/2014/main" id="{15AAB4C6-FF6B-4B20-A955-28ED10302616}"/>
              </a:ext>
            </a:extLst>
          </p:cNvPr>
          <p:cNvSpPr>
            <a:spLocks noGrp="1"/>
          </p:cNvSpPr>
          <p:nvPr/>
        </p:nvSpPr>
        <p:spPr>
          <a:xfrm>
            <a:off x="10728000" y="7325999"/>
            <a:ext cx="93600" cy="93600"/>
          </a:xfrm>
          <a:prstGeom prst="ellipse">
            <a:avLst/>
          </a:prstGeom>
          <a:solidFill>
            <a:srgbClr val="434B9A"/>
          </a:solidFill>
          <a:ln w="0">
            <a:noFill/>
          </a:ln>
        </p:spPr>
      </p:sp>
      <p:sp>
        <p:nvSpPr>
          <p:cNvPr id="13" name="Автор 4 — имя, фамилия, вуз">
            <a:extLst>
              <a:ext uri="{FF2B5EF4-FFF2-40B4-BE49-F238E27FC236}">
                <a16:creationId xmlns:a16="http://schemas.microsoft.com/office/drawing/2014/main" id="{97D87786-7B8A-4E6D-8B1E-28F9C061B5F9}"/>
              </a:ext>
            </a:extLst>
          </p:cNvPr>
          <p:cNvSpPr>
            <a:spLocks noGrp="1"/>
          </p:cNvSpPr>
          <p:nvPr/>
        </p:nvSpPr>
        <p:spPr>
          <a:xfrm>
            <a:off x="10980000" y="64476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Ян Мусатов, ВШЭ</a:t>
            </a:r>
          </a:p>
        </p:txBody>
      </p:sp>
      <p:sp>
        <p:nvSpPr>
          <p:cNvPr id="13" name="Автор 6 — имя, фамилия, вуз">
            <a:extLst>
              <a:ext uri="{FF2B5EF4-FFF2-40B4-BE49-F238E27FC236}">
                <a16:creationId xmlns:a16="http://schemas.microsoft.com/office/drawing/2014/main" id="{97D87786-7B8A-4E6D-8B1E-28F9C061B5F9}"/>
              </a:ext>
            </a:extLst>
          </p:cNvPr>
          <p:cNvSpPr>
            <a:spLocks noGrp="1"/>
          </p:cNvSpPr>
          <p:nvPr/>
        </p:nvSpPr>
        <p:spPr>
          <a:xfrm>
            <a:off x="10980000" y="76860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Артём Тучков, Иннополис</a:t>
            </a:r>
          </a:p>
        </p:txBody>
      </p:sp>
      <p:sp>
        <p:nvSpPr>
          <p:cNvPr id="13" name="Автор 5 — имя, фамилия, вуз">
            <a:extLst>
              <a:ext uri="{FF2B5EF4-FFF2-40B4-BE49-F238E27FC236}">
                <a16:creationId xmlns:a16="http://schemas.microsoft.com/office/drawing/2014/main" id="{97D87786-7B8A-4E6D-8B1E-28F9C061B5F9}"/>
              </a:ext>
            </a:extLst>
          </p:cNvPr>
          <p:cNvSpPr>
            <a:spLocks noGrp="1"/>
          </p:cNvSpPr>
          <p:nvPr/>
        </p:nvSpPr>
        <p:spPr>
          <a:xfrm>
            <a:off x="10980000" y="7066800"/>
            <a:ext cx="7920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6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Владимир Турундаев, ВШЭ</a:t>
            </a:r>
          </a:p>
        </p:txBody>
      </p:sp>
      <p:sp>
        <p:nvSpPr>
          <p:cNvPr id="14" name="Ментор — подпись">
            <a:extLst>
              <a:ext uri="{FF2B5EF4-FFF2-40B4-BE49-F238E27FC236}">
                <a16:creationId xmlns:a16="http://schemas.microsoft.com/office/drawing/2014/main" id="{A5EA8EE2-B885-476F-A17F-50495C25D3B9}"/>
              </a:ext>
            </a:extLst>
          </p:cNvPr>
          <p:cNvSpPr>
            <a:spLocks noGrp="1"/>
          </p:cNvSpPr>
          <p:nvPr/>
        </p:nvSpPr>
        <p:spPr>
          <a:xfrm>
            <a:off x="19224000" y="2448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МЕНТОР</a:t>
            </a:r>
          </a:p>
        </p:txBody>
      </p:sp>
      <p:sp>
        <p:nvSpPr>
          <p:cNvPr id="15" name="Имя и фамилия ментора">
            <a:extLst>
              <a:ext uri="{FF2B5EF4-FFF2-40B4-BE49-F238E27FC236}">
                <a16:creationId xmlns:a16="http://schemas.microsoft.com/office/drawing/2014/main" id="{0B40D3C9-A620-4A1E-A587-D17C6ADFF1F2}"/>
              </a:ext>
            </a:extLst>
          </p:cNvPr>
          <p:cNvSpPr>
            <a:spLocks noGrp="1"/>
          </p:cNvSpPr>
          <p:nvPr/>
        </p:nvSpPr>
        <p:spPr>
          <a:xfrm>
            <a:off x="19224000" y="3204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Виктор Киселёв</a:t>
            </a:r>
          </a:p>
        </p:txBody>
      </p:sp>
      <p:sp>
        <p:nvSpPr>
          <p:cNvPr id="16" name="Компания ментора">
            <a:extLst>
              <a:ext uri="{FF2B5EF4-FFF2-40B4-BE49-F238E27FC236}">
                <a16:creationId xmlns:a16="http://schemas.microsoft.com/office/drawing/2014/main" id="{954087B2-2A75-475F-8C98-02D24FD2A14F}"/>
              </a:ext>
            </a:extLst>
          </p:cNvPr>
          <p:cNvSpPr>
            <a:spLocks noGrp="1"/>
          </p:cNvSpPr>
          <p:nvPr/>
        </p:nvSpPr>
        <p:spPr>
          <a:xfrm>
            <a:off x="19224000" y="3960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8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8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Сбер</a:t>
            </a:r>
          </a:p>
        </p:txBody>
      </p:sp>
      <p:sp>
        <p:nvSpPr>
          <p:cNvPr id="17" name="Статья — подпись">
            <a:extLst>
              <a:ext uri="{FF2B5EF4-FFF2-40B4-BE49-F238E27FC236}">
                <a16:creationId xmlns:a16="http://schemas.microsoft.com/office/drawing/2014/main" id="{B1E770D8-7687-42BD-83D3-A80DB8EEDACE}"/>
              </a:ext>
            </a:extLst>
          </p:cNvPr>
          <p:cNvSpPr>
            <a:spLocks noGrp="1"/>
          </p:cNvSpPr>
          <p:nvPr/>
        </p:nvSpPr>
        <p:spPr>
          <a:xfrm>
            <a:off x="19224000" y="5256000"/>
            <a:ext cx="8928000" cy="68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4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НАЗВАНИЕ СТАТЬИ</a:t>
            </a:r>
          </a:p>
        </p:txBody>
      </p:sp>
      <p:sp>
        <p:nvSpPr>
          <p:cNvPr id="18" name="Название статьи">
            <a:extLst>
              <a:ext uri="{FF2B5EF4-FFF2-40B4-BE49-F238E27FC236}">
                <a16:creationId xmlns:a16="http://schemas.microsoft.com/office/drawing/2014/main" id="{329A39A3-A22B-474F-8425-12F1C38309A9}"/>
              </a:ext>
            </a:extLst>
          </p:cNvPr>
          <p:cNvSpPr>
            <a:spLocks noGrp="1"/>
          </p:cNvSpPr>
          <p:nvPr/>
        </p:nvSpPr>
        <p:spPr>
          <a:xfrm>
            <a:off x="19224000" y="6084000"/>
            <a:ext cx="8928000" cy="27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4000" b="0">
                <a:solidFill>
                  <a:srgbClr val="000000"/>
                </a:solidFill>
                <a:latin typeface="Inter"/>
                <a:ea typeface="Inter"/>
                <a:cs typeface="Inter"/>
              </a:defRPr>
            </a:pPr>
            <a:r>
              <a:rPr sz="3000" b="0">
                <a:solidFill>
                  <a:srgbClr val="000000"/>
                </a:solidFill>
                <a:latin typeface="Inter"/>
                <a:ea typeface="Inter"/>
                <a:cs typeface="Inter"/>
              </a:rPr>
              <a:t>Sleep stage prediction with raw acceleration and photoplethysmography heart rate data derived from a consumer wearable device</a:t>
            </a:r>
          </a:p>
          <a:p>
            <a:r>
              <a:rPr sz="2600" i="1">
                <a:solidFill>
                  <a:srgbClr val="5B6075"/>
                </a:solidFill>
                <a:latin typeface="Inter"/>
              </a:rPr>
              <a:t>O. Walch, Y. Huang, D. Forger, C. Goldstein. SLEEP, 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6000" y="8640000"/>
            <a:ext cx="21240000" cy="1728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800" b="1">
                <a:solidFill>
                  <a:srgbClr val="434B9A"/>
                </a:solidFill>
                <a:latin typeface="Inter"/>
              </a:rPr>
              <a:t>Сон или бодрствование по Apple Watch: воспроизведение статьи, важность признаков и улучшение модели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6000" y="10656000"/>
            <a:ext cx="12492000" cy="7978421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28000" y="10908000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1. Статья и задача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8000" y="11520717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28000" y="11646717"/>
            <a:ext cx="11988000" cy="72089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1F2233"/>
                </a:solidFill>
                <a:latin typeface="Inter"/>
              </a:rPr>
              <a:t>Полисомнография (PSG) точна, но для её проведения нужна лаборатория. </a:t>
            </a:r>
            <a:r>
              <a:rPr sz="2000" b="1">
                <a:solidFill>
                  <a:srgbClr val="434B9A"/>
                </a:solidFill>
                <a:latin typeface="Inter"/>
              </a:rPr>
              <a:t>Можно ли размечать сон по смарт-часам?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28000" y="12475615"/>
            <a:ext cx="11988000" cy="25082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Статья:</a:t>
            </a:r>
            <a:r>
              <a:rPr sz="2000" b="0">
                <a:solidFill>
                  <a:srgbClr val="1F2233"/>
                </a:solidFill>
                <a:latin typeface="Inter"/>
              </a:rPr>
              <a:t> Walch et al., SLEEP 2019 (University of Michigan): своё приложение для Apple Watch Series 2/3 дало открытые сырые данные ускорения и пульса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Данные:</a:t>
            </a:r>
            <a:r>
              <a:rPr sz="2000" b="0">
                <a:solidFill>
                  <a:srgbClr val="1F2233"/>
                </a:solidFill>
                <a:latin typeface="Inter"/>
              </a:rPr>
              <a:t> 31 человек (21 женщина, 29.4 ± 8.5 года): ночь с PSG + неделя с часами до неё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Задача:</a:t>
            </a:r>
            <a:r>
              <a:rPr sz="2000" b="0">
                <a:solidFill>
                  <a:srgbClr val="1F2233"/>
                </a:solidFill>
                <a:latin typeface="Inter"/>
              </a:rPr>
              <a:t> каждая эпоха 30 с — сон / бодрствование и бодрствование / NREM / REM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Результат статьи:</a:t>
            </a:r>
            <a:r>
              <a:rPr sz="2000" b="0">
                <a:solidFill>
                  <a:srgbClr val="1F2233"/>
                </a:solidFill>
                <a:latin typeface="Inter"/>
              </a:rPr>
              <a:t> 90% эпох верно (93% сна, 59.6% бодрствования); три класса — accuracy ≈ 72%; проверка на 188 людях из MESA</a:t>
            </a:r>
          </a:p>
        </p:txBody>
      </p:sp>
      <p:pic>
        <p:nvPicPr>
          <p:cNvPr id="28" name="Picture 27" descr="night_po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5120" y="14983907"/>
            <a:ext cx="6233760" cy="267161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628000" y="17745518"/>
            <a:ext cx="11988000" cy="6127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5B6075"/>
                </a:solidFill>
                <a:latin typeface="Inter"/>
              </a:rPr>
              <a:t>Испытуемый 46343. Сверху вниз: движение (activity counts, усл. ед.), пульс (уд/мин), стадии по PSG; по оси x — часы от начала записи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6000" y="18940421"/>
            <a:ext cx="12492000" cy="53419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28000" y="19192421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2. Признаки (по одному значению на эпоху)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28000" y="19805139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28000" y="19931139"/>
            <a:ext cx="11988000" cy="286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motion</a:t>
            </a:r>
            <a:r>
              <a:rPr sz="2000" b="0">
                <a:solidFill>
                  <a:srgbClr val="1F2233"/>
                </a:solidFill>
                <a:latin typeface="Inter"/>
              </a:rPr>
              <a:t> — activity counts: ускорение (ось z) → фильтр 3–11 Гц → суммы за 15 с → сглаживание окном ≈ 10 мин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hr</a:t>
            </a:r>
            <a:r>
              <a:rPr sz="2000" b="0">
                <a:solidFill>
                  <a:srgbClr val="1F2233"/>
                </a:solidFill>
                <a:latin typeface="Inter"/>
              </a:rPr>
              <a:t> — вариабельность пульса: стандартное отклонение за ≈ 10 мин после полосового фильтра (разность гауссиан)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clock</a:t>
            </a:r>
            <a:r>
              <a:rPr sz="2000" b="0">
                <a:solidFill>
                  <a:srgbClr val="1F2233"/>
                </a:solidFill>
                <a:latin typeface="Inter"/>
              </a:rPr>
              <a:t> — суточный ритм: шаги за прошлые дни → «свет» → модель Forger (1999); ночные данные не нужны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0">
                <a:solidFill>
                  <a:srgbClr val="1F2233"/>
                </a:solidFill>
                <a:latin typeface="Inter"/>
              </a:rPr>
              <a:t>В статье сравнивали и </a:t>
            </a:r>
            <a:r>
              <a:rPr sz="2000" b="1">
                <a:solidFill>
                  <a:srgbClr val="434B9A"/>
                </a:solidFill>
                <a:latin typeface="Inter"/>
              </a:rPr>
              <a:t>cosine</a:t>
            </a:r>
            <a:r>
              <a:rPr sz="2000" b="0">
                <a:solidFill>
                  <a:srgbClr val="1F2233"/>
                </a:solidFill>
                <a:latin typeface="Inter"/>
              </a:rPr>
              <a:t> (волна 24 ч), и </a:t>
            </a:r>
            <a:r>
              <a:rPr sz="2000" b="1">
                <a:solidFill>
                  <a:srgbClr val="434B9A"/>
                </a:solidFill>
                <a:latin typeface="Inter"/>
              </a:rPr>
              <a:t>time</a:t>
            </a:r>
            <a:r>
              <a:rPr sz="2000" b="0">
                <a:solidFill>
                  <a:srgbClr val="1F2233"/>
                </a:solidFill>
                <a:latin typeface="Inter"/>
              </a:rPr>
              <a:t> (часы от отбоя)</a:t>
            </a:r>
          </a:p>
        </p:txBody>
      </p:sp>
      <p:pic>
        <p:nvPicPr>
          <p:cNvPr id="34" name="Picture 33" descr="formula_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65664" y="22799880"/>
            <a:ext cx="3112670" cy="792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2628000" y="23699880"/>
            <a:ext cx="11988000" cy="3063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5B6075"/>
                </a:solidFill>
                <a:latin typeface="Inter"/>
              </a:rPr>
              <a:t>x — модель внутренних часов; clock = 0 — человек лёг, 1 — дно ритма (≈ 4 ч ночи)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6000" y="24588401"/>
            <a:ext cx="12492000" cy="44150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28000" y="24840401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3. Модели и как проверяем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28000" y="25453119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28000" y="25579119"/>
            <a:ext cx="11988000" cy="170819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Модели статьи:</a:t>
            </a:r>
            <a:r>
              <a:rPr sz="2000" b="0">
                <a:solidFill>
                  <a:srgbClr val="1F2233"/>
                </a:solidFill>
                <a:latin typeface="Inter"/>
              </a:rPr>
              <a:t> логистическая регрессия, kNN (k = 500), случайный лес, MLP (15, 15, 15); </a:t>
            </a:r>
            <a:r>
              <a:rPr sz="2000" b="1">
                <a:solidFill>
                  <a:srgbClr val="434B9A"/>
                </a:solidFill>
                <a:latin typeface="Inter"/>
              </a:rPr>
              <a:t>наша добавка — CatBoost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Проверка:</a:t>
            </a:r>
            <a:r>
              <a:rPr sz="2000" b="0">
                <a:solidFill>
                  <a:srgbClr val="1F2233"/>
                </a:solidFill>
                <a:latin typeface="Inter"/>
              </a:rPr>
              <a:t> в статье Monte Carlo 70/30; у нас leave-one-subject-out (31 фолд)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Порог</a:t>
            </a:r>
            <a:r>
              <a:rPr sz="2000" b="0">
                <a:solidFill>
                  <a:srgbClr val="1F2233"/>
                </a:solidFill>
                <a:latin typeface="Inter"/>
              </a:rPr>
              <a:t> на P(сон) — найти 90% сна; </a:t>
            </a:r>
            <a:r>
              <a:rPr sz="2000" b="1">
                <a:solidFill>
                  <a:srgbClr val="434B9A"/>
                </a:solidFill>
                <a:latin typeface="Inter"/>
              </a:rPr>
              <a:t>метрики:</a:t>
            </a:r>
            <a:r>
              <a:rPr sz="2000" b="0">
                <a:solidFill>
                  <a:srgbClr val="1F2233"/>
                </a:solidFill>
                <a:latin typeface="Inter"/>
              </a:rPr>
              <a:t> accuracy, κ, AUC + AP, PPV, F1</a:t>
            </a:r>
          </a:p>
        </p:txBody>
      </p:sp>
      <p:pic>
        <p:nvPicPr>
          <p:cNvPr id="40" name="Picture 39" descr="formula_logre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2563" y="27287314"/>
            <a:ext cx="5398872" cy="648000"/>
          </a:xfrm>
          <a:prstGeom prst="rect">
            <a:avLst/>
          </a:prstGeom>
        </p:spPr>
      </p:pic>
      <p:pic>
        <p:nvPicPr>
          <p:cNvPr id="41" name="Picture 40" descr="formula_kapp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3026" y="28043314"/>
            <a:ext cx="1572824" cy="684000"/>
          </a:xfrm>
          <a:prstGeom prst="rect">
            <a:avLst/>
          </a:prstGeom>
        </p:spPr>
      </p:pic>
      <p:pic>
        <p:nvPicPr>
          <p:cNvPr id="42" name="Picture 41" descr="formula_f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5850" y="28043314"/>
            <a:ext cx="2965123" cy="6840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2376000" y="29309454"/>
            <a:ext cx="12492000" cy="1057854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28000" y="29561454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4. Воспроизведение: совпало со статьёй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28000" y="30174172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28000" y="30300172"/>
            <a:ext cx="11988000" cy="3063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434B9A"/>
                </a:solidFill>
                <a:latin typeface="Inter"/>
              </a:rPr>
              <a:t>Сон / бодрствование</a:t>
            </a:r>
            <a:r>
              <a:rPr sz="1700" b="0">
                <a:solidFill>
                  <a:srgbClr val="1F2233"/>
                </a:solidFill>
                <a:latin typeface="Inter"/>
              </a:rPr>
              <a:t> (motion + hr + clock; порог подобран так, чтобы найти 90% сна):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2628000" y="30714553"/>
          <a:ext cx="11987995" cy="297291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02534"/>
                <a:gridCol w="791287"/>
                <a:gridCol w="989108"/>
                <a:gridCol w="949544"/>
                <a:gridCol w="791287"/>
                <a:gridCol w="830851"/>
                <a:gridCol w="830851"/>
                <a:gridCol w="870415"/>
                <a:gridCol w="791287"/>
                <a:gridCol w="949544"/>
                <a:gridCol w="791287"/>
              </a:tblGrid>
              <a:tr h="360336">
                <a:tc>
                  <a:txBody>
                    <a:bodyPr/>
                    <a:lstStyle/>
                    <a:p/>
                  </a:txBody>
                  <a:tcPr anchor="ctr" marT="18000" marB="18000">
                    <a:solidFill>
                      <a:srgbClr val="FFFFFF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Наш результат (leave-one-subject-out)</a:t>
                      </a:r>
                    </a:p>
                  </a:txBody>
                  <a:tcPr anchor="ctr" marT="18000" marB="18000">
                    <a:solidFill>
                      <a:srgbClr val="2E347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Статья (Monte Carlo)</a:t>
                      </a:r>
                    </a:p>
                  </a:txBody>
                  <a:tcPr anchor="ctr" marT="18000" marB="18000">
                    <a:solidFill>
                      <a:srgbClr val="2E347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84673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Модель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AUC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Accuracy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wake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κ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AP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wake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F1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wake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Macro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F1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AUC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wake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κ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Логистическая регрессия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0.860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0.876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0.617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0.392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0.479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0.457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0.693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0.854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0.556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0.347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k ближайших соседей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0.867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0.880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0.668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0.424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0.502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0.486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0.709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0.868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0.627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0.391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Случайный лес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0.869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0.880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0.660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0.418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0.562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0.481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0.707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0.871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0.653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0.405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Нейросеть (MLP)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0.877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0.881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0.677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0.429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0.560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0.491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0.712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0.878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0.675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0.424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CatBoost (наш)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0.880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0.881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0.680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0.431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0.547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0.492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0.713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</a:tr>
            </a:tbl>
          </a:graphicData>
        </a:graphic>
      </p:graphicFrame>
      <p:sp>
        <p:nvSpPr>
          <p:cNvPr id="48" name="TextBox 47"/>
          <p:cNvSpPr txBox="1"/>
          <p:nvPr/>
        </p:nvSpPr>
        <p:spPr>
          <a:xfrm>
            <a:off x="2628000" y="33795470"/>
            <a:ext cx="11988000" cy="3063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434B9A"/>
                </a:solidFill>
                <a:latin typeface="Inter"/>
              </a:rPr>
              <a:t>Три класса</a:t>
            </a:r>
            <a:r>
              <a:rPr sz="1700" b="0">
                <a:solidFill>
                  <a:srgbClr val="1F2233"/>
                </a:solidFill>
                <a:latin typeface="Inter"/>
              </a:rPr>
              <a:t> (найдено 60% бодрствования; второй порог уравнивает найденные NREM и REM):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2628000" y="34209851"/>
          <a:ext cx="11988000" cy="297291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18400"/>
                <a:gridCol w="1065600"/>
                <a:gridCol w="1065600"/>
                <a:gridCol w="1110000"/>
                <a:gridCol w="888000"/>
                <a:gridCol w="976800"/>
                <a:gridCol w="932400"/>
                <a:gridCol w="1065600"/>
                <a:gridCol w="1065600"/>
              </a:tblGrid>
              <a:tr h="360336">
                <a:tc>
                  <a:txBody>
                    <a:bodyPr/>
                    <a:lstStyle/>
                    <a:p/>
                  </a:txBody>
                  <a:tcPr anchor="ctr" marT="18000" marB="18000">
                    <a:solidFill>
                      <a:srgbClr val="FFFFFF"/>
                    </a:solidFill>
                  </a:tcPr>
                </a:tc>
                <a:tc gridSpan="6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Наш результат (leave-one-subject-out)</a:t>
                      </a:r>
                    </a:p>
                  </a:txBody>
                  <a:tcPr anchor="ctr" marT="18000" marB="18000">
                    <a:solidFill>
                      <a:srgbClr val="2E347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Статья</a:t>
                      </a:r>
                    </a:p>
                  </a:txBody>
                  <a:tcPr anchor="ctr" marT="18000" marB="18000">
                    <a:solidFill>
                      <a:srgbClr val="2E347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84673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Модель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NREM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REM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Accuracy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κ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Macro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F1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F1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REM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NREM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Найдено</a:t>
                      </a:r>
                    </a:p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Inter"/>
                        </a:rPr>
                        <a:t>REM</a:t>
                      </a:r>
                    </a:p>
                  </a:txBody>
                  <a:tcPr marL="64800" marR="64800" marT="28800" marB="28800" anchor="ctr">
                    <a:solidFill>
                      <a:srgbClr val="434B9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Логистическая регрессия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0.645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0.642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0.640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0.337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0.572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0.498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0.623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0.623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k ближайших соседей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0.634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0.323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0.571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0.481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0.648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0.647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Случайный лес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0.633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0.631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0.630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0.319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0.566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0.482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0.638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0.638</a:t>
                      </a:r>
                    </a:p>
                  </a:txBody>
                  <a:tcPr marL="64800" marR="64800" marT="28800" marB="28800" anchor="ctr">
                    <a:solidFill>
                      <a:srgbClr val="FFFFFF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Нейросеть (MLP)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0.643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0.641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0.639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0.330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0.583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0.482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0.651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0">
                          <a:solidFill>
                            <a:srgbClr val="1F2233"/>
                          </a:solidFill>
                          <a:latin typeface="Inter"/>
                        </a:rPr>
                        <a:t>0.650</a:t>
                      </a:r>
                    </a:p>
                  </a:txBody>
                  <a:tcPr marL="64800" marR="64800" marT="28800" marB="28800" anchor="ctr">
                    <a:solidFill>
                      <a:srgbClr val="F1F2FA"/>
                    </a:solidFill>
                  </a:tcPr>
                </a:tc>
              </a:tr>
              <a:tr h="385581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CatBoost (наш)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0.649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0.654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0.646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0.342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0.586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0.497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0"/>
                        </a:spcAft>
                      </a:pPr>
                      <a:r>
                        <a:rPr sz="1700" b="1">
                          <a:solidFill>
                            <a:srgbClr val="1F2233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64800" marR="64800" marT="28800" marB="28800" anchor="ctr">
                    <a:solidFill>
                      <a:srgbClr val="E3E5F4"/>
                    </a:solidFill>
                  </a:tcPr>
                </a:tc>
              </a:tr>
            </a:tbl>
          </a:graphicData>
        </a:graphic>
      </p:graphicFrame>
      <p:sp>
        <p:nvSpPr>
          <p:cNvPr id="50" name="TextBox 49"/>
          <p:cNvSpPr txBox="1"/>
          <p:nvPr/>
        </p:nvSpPr>
        <p:spPr>
          <a:xfrm>
            <a:off x="2628000" y="37290767"/>
            <a:ext cx="11988000" cy="24290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AUC и доли стадий совпали со статьёй</a:t>
            </a:r>
            <a:r>
              <a:rPr sz="2000" b="0">
                <a:solidFill>
                  <a:srgbClr val="1F2233"/>
                </a:solidFill>
                <a:latin typeface="Inter"/>
              </a:rPr>
              <a:t> (±0.01–0.02); CatBoost лучший, но отрыв в тысячных: качество упирается в признаки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Accuracy обманчива:</a:t>
            </a:r>
            <a:r>
              <a:rPr sz="2000" b="0">
                <a:solidFill>
                  <a:srgbClr val="1F2233"/>
                </a:solidFill>
                <a:latin typeface="Inter"/>
              </a:rPr>
              <a:t> «всегда сон» даёт 0.916 &gt; 0.88 у моделей (бодрствование — 8.4% эпох)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0">
                <a:solidFill>
                  <a:srgbClr val="1F2233"/>
                </a:solidFill>
                <a:latin typeface="Inter"/>
              </a:rPr>
              <a:t>Верна лишь </a:t>
            </a:r>
            <a:r>
              <a:rPr sz="2000" b="1">
                <a:solidFill>
                  <a:srgbClr val="434B9A"/>
                </a:solidFill>
                <a:latin typeface="Inter"/>
              </a:rPr>
              <a:t>каждая третья</a:t>
            </a:r>
            <a:r>
              <a:rPr sz="2000" b="0">
                <a:solidFill>
                  <a:srgbClr val="1F2233"/>
                </a:solidFill>
                <a:latin typeface="Inter"/>
              </a:rPr>
              <a:t> метка «бодрствование» (PPV 0.36–0.39); REM — самый трудный класс (F1 ≈ 0.5)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5408000" y="10656000"/>
            <a:ext cx="12492000" cy="932471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60000" y="10908000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5. Какие признаки важны: значения Шепли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660000" y="11520717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formula_shaple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476136" y="11646717"/>
            <a:ext cx="6355726" cy="86400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5660000" y="12618717"/>
            <a:ext cx="11988000" cy="27895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0">
                <a:solidFill>
                  <a:srgbClr val="1F2233"/>
                </a:solidFill>
                <a:latin typeface="Inter"/>
              </a:rPr>
              <a:t>Модель переобучается на всех 7 подмножествах {motion, hr, clock}; вклад признака — средний прирост метрики по всем порядкам добавления (сумма вкладов = качество полной модели − случайной)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motion — около половины</a:t>
            </a:r>
            <a:r>
              <a:rPr sz="2000" b="0">
                <a:solidFill>
                  <a:srgbClr val="1F2233"/>
                </a:solidFill>
                <a:latin typeface="Inter"/>
              </a:rPr>
              <a:t> прироста, </a:t>
            </a:r>
            <a:r>
              <a:rPr sz="2000" b="1">
                <a:solidFill>
                  <a:srgbClr val="434B9A"/>
                </a:solidFill>
                <a:latin typeface="Inter"/>
              </a:rPr>
              <a:t>clock — четверть–треть</a:t>
            </a:r>
            <a:r>
              <a:rPr sz="2000" b="0">
                <a:solidFill>
                  <a:srgbClr val="1F2233"/>
                </a:solidFill>
                <a:latin typeface="Inter"/>
              </a:rPr>
              <a:t>, </a:t>
            </a:r>
            <a:r>
              <a:rPr sz="2000" b="1">
                <a:solidFill>
                  <a:srgbClr val="434B9A"/>
                </a:solidFill>
                <a:latin typeface="Inter"/>
              </a:rPr>
              <a:t>hr — меньше всех</a:t>
            </a:r>
            <a:r>
              <a:rPr sz="2000" b="0">
                <a:solidFill>
                  <a:srgbClr val="1F2233"/>
                </a:solidFill>
                <a:latin typeface="Inter"/>
              </a:rPr>
              <a:t> (для поиска бодрствования — 12–18%): одинаково у всех пяти моделей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SHAP по эпохам:</a:t>
            </a:r>
            <a:r>
              <a:rPr sz="2000" b="0">
                <a:solidFill>
                  <a:srgbClr val="1F2233"/>
                </a:solidFill>
                <a:latin typeface="Inter"/>
              </a:rPr>
              <a:t> покой → сон, движение → бодрствование, начало ночи → бодрствование, ровный пульс → чуть к сну</a:t>
            </a:r>
          </a:p>
        </p:txBody>
      </p:sp>
      <p:pic>
        <p:nvPicPr>
          <p:cNvPr id="56" name="Picture 55" descr="shapley_post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379280" y="15408258"/>
            <a:ext cx="10549440" cy="3918363"/>
          </a:xfrm>
          <a:prstGeom prst="rect">
            <a:avLst/>
          </a:prstGeom>
        </p:spPr>
      </p:pic>
      <p:sp>
        <p:nvSpPr>
          <p:cNvPr id="57" name="Rounded Rectangle 56"/>
          <p:cNvSpPr/>
          <p:nvPr/>
        </p:nvSpPr>
        <p:spPr>
          <a:xfrm>
            <a:off x="15408000" y="20286718"/>
            <a:ext cx="12492000" cy="14889727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660000" y="20538718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6. Улучшение модели: быстрые признаки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660000" y="21151436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660000" y="21277436"/>
            <a:ext cx="11988000" cy="10813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000" b="0">
                <a:solidFill>
                  <a:srgbClr val="1F2233"/>
                </a:solidFill>
                <a:latin typeface="Inter"/>
              </a:rPr>
              <a:t>Эксперимент команды: MLP (15, 15, 15), порог P(сон) ≥ 0.5, признаки motion, hr и время ночи. Добавили 3 «быстрых» признака по 5-секундным отрезкам: m — корень из суммы дисперсий ускорения по осям, τ = 0.02 g, окно W = [t − 15, t + 45) с</a:t>
            </a:r>
          </a:p>
        </p:txBody>
      </p:sp>
      <p:pic>
        <p:nvPicPr>
          <p:cNvPr id="61" name="Picture 60" descr="formula_fpea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660000" y="22466782"/>
            <a:ext cx="3417262" cy="779180"/>
          </a:xfrm>
          <a:prstGeom prst="rect">
            <a:avLst/>
          </a:prstGeom>
        </p:spPr>
      </p:pic>
      <p:pic>
        <p:nvPicPr>
          <p:cNvPr id="62" name="Picture 61" descr="formula_factiv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54810" y="22466782"/>
            <a:ext cx="4912133" cy="779180"/>
          </a:xfrm>
          <a:prstGeom prst="rect">
            <a:avLst/>
          </a:prstGeom>
        </p:spPr>
      </p:pic>
      <p:pic>
        <p:nvPicPr>
          <p:cNvPr id="63" name="Picture 62" descr="formula_fh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344492" y="22466782"/>
            <a:ext cx="2303507" cy="7791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5660000" y="23353962"/>
            <a:ext cx="11988000" cy="134774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f_peak</a:t>
            </a:r>
            <a:r>
              <a:rPr sz="2000" b="0">
                <a:solidFill>
                  <a:srgbClr val="1F2233"/>
                </a:solidFill>
                <a:latin typeface="Inter"/>
              </a:rPr>
              <a:t> — самый сильный короткий всплеск движения в эпохе (логарифм гасит выбросы)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f_active</a:t>
            </a:r>
            <a:r>
              <a:rPr sz="2000" b="0">
                <a:solidFill>
                  <a:srgbClr val="1F2233"/>
                </a:solidFill>
                <a:latin typeface="Inter"/>
              </a:rPr>
              <a:t> — как часто двигались в течение минуты: доля 5-секундных отрезков с m ≥ τ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f_HR</a:t>
            </a:r>
            <a:r>
              <a:rPr sz="2000" b="0">
                <a:solidFill>
                  <a:srgbClr val="1F2233"/>
                </a:solidFill>
                <a:latin typeface="Inter"/>
              </a:rPr>
              <a:t> — пульс за минуту относительно медианы записи: +0.1 — на 10% выше обычного</a:t>
            </a:r>
          </a:p>
        </p:txBody>
      </p:sp>
      <p:pic>
        <p:nvPicPr>
          <p:cNvPr id="65" name="Picture 64" descr="experiment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738920" y="24701708"/>
            <a:ext cx="9830160" cy="3667416"/>
          </a:xfrm>
          <a:prstGeom prst="rect">
            <a:avLst/>
          </a:prstGeom>
        </p:spPr>
      </p:pic>
      <p:pic>
        <p:nvPicPr>
          <p:cNvPr id="66" name="Picture 65" descr="shap_fast_righ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60000" y="28477125"/>
            <a:ext cx="5415120" cy="4928079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5660000" y="33495205"/>
            <a:ext cx="5415120" cy="3063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5B6075"/>
                </a:solidFill>
                <a:latin typeface="Inter"/>
              </a:rPr>
              <a:t>SHAP расширенного MLP (график команды)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291120" y="28677639"/>
            <a:ext cx="6356880" cy="503143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Лучше всего — исходные + 3 быстрых признака:</a:t>
            </a:r>
            <a:r>
              <a:rPr sz="2000" b="0">
                <a:solidFill>
                  <a:srgbClr val="1F2233"/>
                </a:solidFill>
                <a:latin typeface="Inter"/>
              </a:rPr>
              <a:t> κ 0.496 → 0.534, AUC 0.908 → 0.917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0">
                <a:solidFill>
                  <a:srgbClr val="1F2233"/>
                </a:solidFill>
                <a:latin typeface="Inter"/>
              </a:rPr>
              <a:t>Помогают соседние эпохи и окно; повтор примеров бодрствования и признаки без сглаживания — нет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1">
                <a:solidFill>
                  <a:srgbClr val="434B9A"/>
                </a:solidFill>
                <a:latin typeface="Inter"/>
              </a:rPr>
              <a:t>SHAP:</a:t>
            </a:r>
            <a:r>
              <a:rPr sz="2000" b="0">
                <a:solidFill>
                  <a:srgbClr val="1F2233"/>
                </a:solidFill>
                <a:latin typeface="Inter"/>
              </a:rPr>
              <a:t> «доля движения за минуту» (|SHAP| 0.024) работает почти как motion (0.034), пик движения и относительный пульс — слабее (0.009 и 0.005); время ночи остаётся самым сильным признаком (0.049)</a:t>
            </a:r>
          </a:p>
          <a:p>
            <a:pPr algn="l" marL="270000" indent="-270000">
              <a:lnSpc>
                <a:spcPct val="110000"/>
              </a:lnSpc>
              <a:spcAft>
                <a:spcPts val="623"/>
              </a:spcAft>
              <a:buClr>
                <a:srgbClr val="434B9A"/>
              </a:buClr>
              <a:buFont typeface="Arial"/>
              <a:buChar char="•"/>
            </a:pPr>
            <a:r>
              <a:rPr sz="2000" b="0">
                <a:solidFill>
                  <a:srgbClr val="1F2233"/>
                </a:solidFill>
                <a:latin typeface="Inter"/>
              </a:rPr>
              <a:t>Окно заглядывает на 15 с вперёд, медиана пульса — по всей записи: это анализ готовой записи, а не онлайн-предсказание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660000" y="33909586"/>
            <a:ext cx="11988000" cy="6127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1F2233"/>
                </a:solidFill>
                <a:latin typeface="Inter"/>
              </a:rPr>
              <a:t>Те же признаки добавлены к </a:t>
            </a:r>
            <a:r>
              <a:rPr sz="1700" b="1">
                <a:solidFill>
                  <a:srgbClr val="434B9A"/>
                </a:solidFill>
                <a:latin typeface="Inter"/>
              </a:rPr>
              <a:t>CatBoost</a:t>
            </a:r>
            <a:r>
              <a:rPr sz="1700" b="0">
                <a:solidFill>
                  <a:srgbClr val="1F2233"/>
                </a:solidFill>
                <a:latin typeface="Inter"/>
              </a:rPr>
              <a:t> и нейросети в общей постановке проекта (motion, hr, clock; LOSO): python repro/10_fast_features.py — после запуска таблица появится здесь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408000" y="35482445"/>
            <a:ext cx="12492000" cy="440555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5400">
            <a:solidFill>
              <a:srgbClr val="C9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660000" y="35734445"/>
            <a:ext cx="11988000" cy="57671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434B9A"/>
                </a:solidFill>
                <a:latin typeface="Inter"/>
              </a:rPr>
              <a:t>Выводы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5660000" y="36347163"/>
            <a:ext cx="2160000" cy="43200"/>
          </a:xfrm>
          <a:prstGeom prst="rect">
            <a:avLst/>
          </a:prstGeom>
          <a:solidFill>
            <a:srgbClr val="434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5660000" y="36473163"/>
            <a:ext cx="11988000" cy="28687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  <a:spcAft>
                <a:spcPts val="623"/>
              </a:spcAft>
            </a:pPr>
            <a:r>
              <a:rPr sz="2000" b="1">
                <a:solidFill>
                  <a:srgbClr val="434B9A"/>
                </a:solidFill>
                <a:latin typeface="Inter"/>
              </a:rPr>
              <a:t>1.</a:t>
            </a:r>
            <a:r>
              <a:rPr sz="2000" b="0">
                <a:solidFill>
                  <a:srgbClr val="1F2233"/>
                </a:solidFill>
                <a:latin typeface="Inter"/>
              </a:rPr>
              <a:t> Воспроизвели статью: AUC 0.86–0.88 и доли найденных стадий — как у авторов; CatBoost — AUC 0.880</a:t>
            </a:r>
          </a:p>
          <a:p>
            <a:pPr algn="l">
              <a:lnSpc>
                <a:spcPct val="110000"/>
              </a:lnSpc>
              <a:spcAft>
                <a:spcPts val="623"/>
              </a:spcAft>
            </a:pPr>
            <a:r>
              <a:rPr sz="2000" b="1">
                <a:solidFill>
                  <a:srgbClr val="434B9A"/>
                </a:solidFill>
                <a:latin typeface="Inter"/>
              </a:rPr>
              <a:t>2.</a:t>
            </a:r>
            <a:r>
              <a:rPr sz="2000" b="0">
                <a:solidFill>
                  <a:srgbClr val="1F2233"/>
                </a:solidFill>
                <a:latin typeface="Inter"/>
              </a:rPr>
              <a:t> Главное — движение и время ночи (clock); пульс добавляет меньше всего</a:t>
            </a:r>
          </a:p>
          <a:p>
            <a:pPr algn="l">
              <a:lnSpc>
                <a:spcPct val="110000"/>
              </a:lnSpc>
              <a:spcAft>
                <a:spcPts val="623"/>
              </a:spcAft>
            </a:pPr>
            <a:r>
              <a:rPr sz="2000" b="1">
                <a:solidFill>
                  <a:srgbClr val="434B9A"/>
                </a:solidFill>
                <a:latin typeface="Inter"/>
              </a:rPr>
              <a:t>3.</a:t>
            </a:r>
            <a:r>
              <a:rPr sz="2000" b="0">
                <a:solidFill>
                  <a:srgbClr val="1F2233"/>
                </a:solidFill>
                <a:latin typeface="Inter"/>
              </a:rPr>
              <a:t> Слабое место — тихое бодрствование без движения и REM; accuracy это скрывает, нужны κ, F1 и AP</a:t>
            </a:r>
          </a:p>
          <a:p>
            <a:pPr algn="l">
              <a:lnSpc>
                <a:spcPct val="110000"/>
              </a:lnSpc>
              <a:spcAft>
                <a:spcPts val="623"/>
              </a:spcAft>
            </a:pPr>
            <a:r>
              <a:rPr sz="2000" b="1">
                <a:solidFill>
                  <a:srgbClr val="434B9A"/>
                </a:solidFill>
                <a:latin typeface="Inter"/>
              </a:rPr>
              <a:t>4.</a:t>
            </a:r>
            <a:r>
              <a:rPr sz="2000" b="0">
                <a:solidFill>
                  <a:srgbClr val="1F2233"/>
                </a:solidFill>
                <a:latin typeface="Inter"/>
              </a:rPr>
              <a:t> Быстрые признаки движения и пульса поднимают κ MLP с 0.496 до 0.534 и AUC с 0.908 до 0.917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6000" y="40104000"/>
            <a:ext cx="25524000" cy="86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0">
                <a:solidFill>
                  <a:srgbClr val="5B6075"/>
                </a:solidFill>
                <a:latin typeface="Inter"/>
              </a:rPr>
              <a:t>[1] Walch O. et al. Sleep stage prediction with raw acceleration and photoplethysmography heart rate data derived from a consumer wearable device. SLEEP, 2019   [2] Forger D. et al. A simpler model of the human circadian pacemaker. J. Biol. Rhythms, 1999   [3] Lundberg S., Lee S. A unified approach to interpreting model predictions. NeurIPS, 2017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900" b="1">
                <a:solidFill>
                  <a:srgbClr val="5B6075"/>
                </a:solidFill>
                <a:latin typeface="Inter"/>
              </a:rPr>
              <a:t>Код и все результаты:</a:t>
            </a:r>
            <a:r>
              <a:rPr sz="1900" b="0">
                <a:solidFill>
                  <a:srgbClr val="5B6075"/>
                </a:solidFill>
                <a:latin typeface="Inter"/>
              </a:rPr>
              <a:t> github.com/AlisaPopova25/ai_school_october      AI360 · Проектная школа · 2026</a:t>
            </a:r>
          </a:p>
        </p:txBody>
      </p:sp>
    </p:spTree>
    <p:extLst>
      <p:ext uri="{BB962C8B-B14F-4D97-AF65-F5344CB8AC3E}">
        <p14:creationId xmlns:p14="http://schemas.microsoft.com/office/powerpoint/2010/main" val="96848128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</Words>
  <Application>Microsoft Office PowerPoint</Application>
  <DocSecurity>0</DocSecurity>
  <PresentationFormat>Произвольный</PresentationFormat>
  <Paragraphs>12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Inter</vt:lpstr>
      <vt:lpstr>Calibri</vt:lpstr>
      <vt:lpstr>ChatGPT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Ruslan</cp:lastModifiedBy>
  <cp:revision>1</cp:revision>
  <dcterms:created xsi:type="dcterms:W3CDTF">2026-10-06T15:44:02Z</dcterms:created>
  <dcterms:modified xsi:type="dcterms:W3CDTF">2026-10-06T15:44:18Z</dcterms:modified>
</cp:coreProperties>
</file>