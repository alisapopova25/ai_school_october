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960069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20220697"/>
            <a:ext cx="12492000" cy="1605735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047269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1013325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113932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 MLP: исследованы соседние эпохи, статистики и изменения сигналов, балансировка классов и подбор порога.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60000" y="21824043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Лучший результат дало добавление трёх локальных признаков движения и пульса: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60000" y="22220402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Cohen’s κ выросла с 0,496 до 0,534, ROC AUC — с 0,908 до 0,917 при проверке с разделением по участникам.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619040" y="22616761"/>
            <a:ext cx="10069920" cy="3756866"/>
          </a:xfrm>
          <a:prstGeom prst="rect">
            <a:avLst/>
          </a:prstGeom>
        </p:spPr>
      </p:pic>
      <p:pic>
        <p:nvPicPr>
          <p:cNvPr id="67" name="Picture 66" descr="shap_fast_righ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660000" y="26481627"/>
            <a:ext cx="5297400" cy="482094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660000" y="31392574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173400" y="26512842"/>
            <a:ext cx="6474600" cy="29408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Лучше всего было когда к исходным признакам добавлены три показателя: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Пик движения: максимальные колебания ускорения на 5-секундном отрезке внутри текущей эпохи.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Доля движения: доля активных 5-секундных отрезков в минутном окне — текущая эпоха и по 15 секунд до и после неё.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Относительный пульс: отклонение среднего пульса за минуту от медианы записи, делённое на медиану.</a:t>
            </a:r>
          </a:p>
        </p:txBody>
      </p:sp>
      <p:pic>
        <p:nvPicPr>
          <p:cNvPr id="70" name="Picture 69" descr="formula_fpea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989728" y="29453673"/>
            <a:ext cx="2841942" cy="648000"/>
          </a:xfrm>
          <a:prstGeom prst="rect">
            <a:avLst/>
          </a:prstGeom>
        </p:spPr>
      </p:pic>
      <p:pic>
        <p:nvPicPr>
          <p:cNvPr id="71" name="Picture 70" descr="formula_factiv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368128" y="30209673"/>
            <a:ext cx="4085142" cy="648000"/>
          </a:xfrm>
          <a:prstGeom prst="rect">
            <a:avLst/>
          </a:prstGeom>
        </p:spPr>
      </p:pic>
      <p:pic>
        <p:nvPicPr>
          <p:cNvPr id="72" name="Picture 71" descr="formula_fh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452851" y="30965673"/>
            <a:ext cx="1915696" cy="648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660000" y="31752888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Те же признаки на CatBoost и нейросети статьи</a:t>
            </a:r>
            <a:r>
              <a:rPr sz="1400" b="0">
                <a:solidFill>
                  <a:srgbClr val="1F2233"/>
                </a:solidFill>
                <a:latin typeface="Inter"/>
              </a:rPr>
              <a:t> — общая постановка проекта: leave-one-subject-out, порог найдёт 90% сна, время ночи — clock или cosine: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15660000" y="32365517"/>
          <a:ext cx="11987999" cy="2208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76023"/>
                <a:gridCol w="848979"/>
                <a:gridCol w="848979"/>
                <a:gridCol w="1110072"/>
                <a:gridCol w="848979"/>
                <a:gridCol w="848979"/>
                <a:gridCol w="848979"/>
                <a:gridCol w="848979"/>
                <a:gridCol w="1110072"/>
                <a:gridCol w="848979"/>
                <a:gridCol w="848979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Без быстрых признаков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 быстрыми признаками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 · время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ночи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0.890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0.511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15660000" y="34682381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Быстрые признаки улучшают обе модели почти по всем метрикам.</a:t>
            </a:r>
            <a:r>
              <a:rPr sz="1400" b="0">
                <a:solidFill>
                  <a:srgbClr val="1F2233"/>
                </a:solidFill>
                <a:latin typeface="Inter"/>
              </a:rPr>
              <a:t> CatBoost: AUC 0.880 → </a:t>
            </a:r>
            <a:r>
              <a:rPr sz="1400" b="1">
                <a:solidFill>
                  <a:srgbClr val="434B9A"/>
                </a:solidFill>
                <a:latin typeface="Inter"/>
              </a:rPr>
              <a:t>0.890</a:t>
            </a:r>
            <a:r>
              <a:rPr sz="1400" b="0">
                <a:solidFill>
                  <a:srgbClr val="1F2233"/>
                </a:solidFill>
                <a:latin typeface="Inter"/>
              </a:rPr>
              <a:t> — лучший результат проекта; найдено бодрствования 68% → 71%, AP wake 0.547 → 0.585, κ 0.431 → 0.448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0">
                <a:solidFill>
                  <a:srgbClr val="1F2233"/>
                </a:solidFill>
                <a:latin typeface="Inter"/>
              </a:rPr>
              <a:t>Прирост — именно там, где модели слабы: в поиске бодрствования. С cosine вместо clock результаты близкие (AP wake даже выше)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408000" y="36494048"/>
            <a:ext cx="12492000" cy="3681951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6746048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660000" y="372866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60000" y="37412676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улучшают все модели: нейросеть команды — κ 0.496 → 0.534; CatBoost в общей постановке — AUC 0.880 → 0.890, лучший результат проекта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