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930082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(≈ раз в 5 с) одновременно с PSG; данные и код открыты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000" y="15813253"/>
            <a:ext cx="6474600" cy="32961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9199413"/>
            <a:ext cx="64746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Испытуемый 46343; движение — activity counts (усл. ед.)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8600" y="16198120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Как читать: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8600" y="16558434"/>
            <a:ext cx="5297400" cy="26164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Движение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во сне почти всегда 0; пики — пробуждения или ворочания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Пульс</a:t>
            </a:r>
            <a:r>
              <a:rPr sz="1400" b="0">
                <a:solidFill>
                  <a:srgbClr val="1F2233"/>
                </a:solidFill>
                <a:latin typeface="Inter"/>
              </a:rPr>
              <a:t> ровный в глубоком сне N3 и скачет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Стадии</a:t>
            </a:r>
            <a:r>
              <a:rPr sz="1400" b="0">
                <a:solidFill>
                  <a:srgbClr val="1F2233"/>
                </a:solidFill>
                <a:latin typeface="Inter"/>
              </a:rPr>
              <a:t> идут циклами ≈ 90 мин: N3 — в начале ночи, REM к утру длиннее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Трудное место:</a:t>
            </a:r>
            <a:r>
              <a:rPr sz="1400" b="0">
                <a:solidFill>
                  <a:srgbClr val="1F2233"/>
                </a:solidFill>
                <a:latin typeface="Inter"/>
              </a:rPr>
              <a:t> в начале ночи человек не спит, но почти не двигается — по часам это бодрствование не видно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6000" y="19920823"/>
            <a:ext cx="12492000" cy="5120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1728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8000" y="2071345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8000" y="20839452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из ускорения убираются гравитация и шум, движения суммируются за 15 с («activity counts», как у медицинских актиграфов) и усредняются за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насколько сильно меняется пульс вокруг эпохи: разброс пульса за ≈ 10 мин, без медленного изменения за ночь; мал в глубоком сне, велик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6" name="Picture 35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491923"/>
            <a:ext cx="2688215" cy="68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28000" y="242839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(минимум x, у каждого в своё время); под утро clock снова уменьшается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6000" y="25257647"/>
            <a:ext cx="12492000" cy="566073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0964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8000" y="260502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8000" y="26176276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2" name="Picture 41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8172829"/>
            <a:ext cx="4798997" cy="57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628000" y="2885682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4" name="Picture 43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30053286"/>
            <a:ext cx="1407263" cy="612000"/>
          </a:xfrm>
          <a:prstGeom prst="rect">
            <a:avLst/>
          </a:prstGeom>
        </p:spPr>
      </p:pic>
      <p:pic>
        <p:nvPicPr>
          <p:cNvPr id="45" name="Picture 44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30053286"/>
            <a:ext cx="2653004" cy="61200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376000" y="31134382"/>
            <a:ext cx="12492000" cy="904161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38638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28000" y="3192701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8000" y="32053010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2413324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506170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628000" y="35674330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2628000" y="3832270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408000" y="10404000"/>
            <a:ext cx="12492000" cy="921234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9" name="Picture 58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738920" y="15668176"/>
            <a:ext cx="9830160" cy="3651202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15408000" y="19832345"/>
            <a:ext cx="12492000" cy="1332559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20084345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660000" y="20624973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660000" y="20750973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 MLP: исследованы соседние эпохи, статистики и изменения сигналов, балансировка классов и подбор порога.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660000" y="21435691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Лучший результат дало добавление трёх локальных признаков движения и пульса: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60000" y="21832050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Cohen’s κ выросла с 0,496 до 0,534, ROC AUC — с 0,908 до 0,917 при проверке с разделением по участникам.</a:t>
            </a:r>
          </a:p>
        </p:txBody>
      </p:sp>
      <p:pic>
        <p:nvPicPr>
          <p:cNvPr id="66" name="Picture 65" descr="experiment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978680" y="22228409"/>
            <a:ext cx="9350640" cy="3488518"/>
          </a:xfrm>
          <a:prstGeom prst="rect">
            <a:avLst/>
          </a:prstGeom>
        </p:spPr>
      </p:pic>
      <p:pic>
        <p:nvPicPr>
          <p:cNvPr id="67" name="Picture 66" descr="shap_fast_righ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660000" y="25824927"/>
            <a:ext cx="4473360" cy="407102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5660000" y="29985950"/>
            <a:ext cx="447336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349360" y="25824927"/>
            <a:ext cx="729864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Лучше всего было когда к исходным признакам добавлены три показателя: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Пик движения: максимальные колебания ускорения на 5-секундном отрезке внутри текущей эпохи.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Доля движения: доля активных 5-секундных отрезков в минутном окне — текущая эпоха и по 15 секунд до и после неё.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Относительный пульс: отклонение среднего пульса за минуту от медианы записи, делённое на медиану.</a:t>
            </a:r>
          </a:p>
        </p:txBody>
      </p:sp>
      <p:pic>
        <p:nvPicPr>
          <p:cNvPr id="70" name="Picture 69" descr="formula_fpea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814537" y="28477399"/>
            <a:ext cx="2368285" cy="540000"/>
          </a:xfrm>
          <a:prstGeom prst="rect">
            <a:avLst/>
          </a:prstGeom>
        </p:spPr>
      </p:pic>
      <p:pic>
        <p:nvPicPr>
          <p:cNvPr id="71" name="Picture 70" descr="formula_factiv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296537" y="29125399"/>
            <a:ext cx="3404285" cy="540000"/>
          </a:xfrm>
          <a:prstGeom prst="rect">
            <a:avLst/>
          </a:prstGeom>
        </p:spPr>
      </p:pic>
      <p:pic>
        <p:nvPicPr>
          <p:cNvPr id="72" name="Picture 71" descr="formula_fh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200473" y="29773399"/>
            <a:ext cx="1596413" cy="540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660000" y="30421399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Те же признаки на CatBoost</a:t>
            </a:r>
            <a:r>
              <a:rPr sz="1400" b="0">
                <a:solidFill>
                  <a:srgbClr val="1F2233"/>
                </a:solidFill>
                <a:latin typeface="Inter"/>
              </a:rPr>
              <a:t> — общая постановка проекта: leave-one-subject-out, признаки motion + hr + clock, порог найдёт 90% сна: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15660000" y="31034027"/>
          <a:ext cx="11987996" cy="1214321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10890"/>
                <a:gridCol w="855492"/>
                <a:gridCol w="855492"/>
                <a:gridCol w="1116585"/>
                <a:gridCol w="855492"/>
                <a:gridCol w="855492"/>
                <a:gridCol w="855492"/>
                <a:gridCol w="855492"/>
                <a:gridCol w="1116585"/>
                <a:gridCol w="855492"/>
                <a:gridCol w="855492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Без быстрых признаков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 быстрыми признаками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0.890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15660000" y="32356349"/>
            <a:ext cx="11988000" cy="612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Быстрые признаки улучшают CatBoost по всем метрикам:</a:t>
            </a:r>
            <a:r>
              <a:rPr sz="1400" b="0">
                <a:solidFill>
                  <a:srgbClr val="1F2233"/>
                </a:solidFill>
                <a:latin typeface="Inter"/>
              </a:rPr>
              <a:t> AUC 0.880 → </a:t>
            </a:r>
            <a:r>
              <a:rPr sz="1400" b="1">
                <a:solidFill>
                  <a:srgbClr val="434B9A"/>
                </a:solidFill>
                <a:latin typeface="Inter"/>
              </a:rPr>
              <a:t>0.890</a:t>
            </a:r>
            <a:r>
              <a:rPr sz="1400" b="0">
                <a:solidFill>
                  <a:srgbClr val="1F2233"/>
                </a:solidFill>
                <a:latin typeface="Inter"/>
              </a:rPr>
              <a:t> — лучший результат проекта; найдено бодрствования 68% → 71%, AP wake 0.547 → 0.585, κ 0.431 → 0.448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408000" y="33373944"/>
            <a:ext cx="12492000" cy="680205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660000" y="33625944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5660000" y="3416657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60000" y="34292572"/>
            <a:ext cx="11988000" cy="56944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Статья воспроизводится.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 AUC моделей (0.86–0.88), accuracy и доли найденных стадий совпали с авторскими в пределах 0.01–0.03, хотя мы проверяли строже: каждого человека предсказывала модель, которая его не видела. Значит, результат статьи переносится на новых людей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Модель почти не важна — важны признаки.</a:t>
            </a:r>
            <a:r>
              <a:rPr sz="1600" b="0">
                <a:solidFill>
                  <a:srgbClr val="1F2233"/>
                </a:solidFill>
                <a:latin typeface="Inter"/>
              </a:rPr>
              <a:t> Пять моделей, от логистической регрессии до CatBoost, различаются по AUC лишь на 0.02. CatBoost лучший (AUC 0.880), но отрыв от нейросети статьи — в тысячных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Главное — движение и время ночи.</a:t>
            </a:r>
            <a:r>
              <a:rPr sz="1600" b="0">
                <a:solidFill>
                  <a:srgbClr val="1F2233"/>
                </a:solidFill>
                <a:latin typeface="Inter"/>
              </a:rPr>
              <a:t> По Шепли около половины прироста качества даёт движение, четверть–треть — clock, пульс — меньше всего, а для поиска бодрствования лишь 12–18%. Картина одинакова у всех моделей, то есть это свойство данных, а не модели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Accuracy скрывает главную слабость.</a:t>
            </a:r>
            <a:r>
              <a:rPr sz="1600" b="0">
                <a:solidFill>
                  <a:srgbClr val="1F2233"/>
                </a:solidFill>
                <a:latin typeface="Inter"/>
              </a:rPr>
              <a:t> «Всегда сон» даёт 0.916 — больше, чем 0.88 у моделей. Модели находят около 2/3 бодрствования, но верна лишь каждая третья метка «бодрствование»: тихое бодрствование без движения по часам не видно. REM — самый трудный класс (F1 ≈ 0.5). Поэтому оцениваем по κ, AP и F1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5.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 помогают всем моделям.</a:t>
            </a:r>
            <a:r>
              <a:rPr sz="1600" b="0">
                <a:solidFill>
                  <a:srgbClr val="1F2233"/>
                </a:solidFill>
                <a:latin typeface="Inter"/>
              </a:rPr>
              <a:t> Пик движения, доля движения за минуту и относительный пульс по 5-секундным отрезкам подняли κ нейросети команды с 0.496 до 0.534, а у CatBoost в общей постановке — AUC с 0.880 до 0.890 (лучший результат проекта) и долю найденного бодрствования с 68% до 71%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6.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Что дальше: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признаки, которые видят тихое бодрствование и REM (дыхание и вариабельность пульса по сырому сигналу PPG), учёт последовательности эпох во времени, проверка на других людях и устройствах (MESA) и вариант быстрых признаков без «заглядывания» на 15 с вперёд — для работы в реальном времени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0">
                <a:solidFill>
                  <a:srgbClr val="5B6075"/>
                </a:solidFill>
                <a:latin typeface="Inter"/>
              </a:rPr>
              <a:t>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