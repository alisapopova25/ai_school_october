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из ускорения убираются гравитация и шум, движения суммируются за 15 с («activity counts», как у медицинских актиграфов) и усредняются за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насколько сильно меняется пульс вокруг эпохи: разброс пульса за ≈ 10 мин, без медленного изменения за ночь; мал в глубоком сне, велик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873306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338320" y="15668176"/>
            <a:ext cx="8631360" cy="3205933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19353067"/>
            <a:ext cx="12492000" cy="1383888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1960506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0145695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0271695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 MLP: исследованы соседние эпохи, статистики и изменения сигналов, балансировка классов и подбор порога.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660000" y="20956413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Лучший результат дало добавление трёх локальных признаков движения и пульса: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60000" y="21352772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Cohen’s κ выросла с 0,496 до 0,534, ROC AUC — с 0,908 до 0,917 при проверке с разделением по участникам.</a:t>
            </a:r>
          </a:p>
        </p:txBody>
      </p:sp>
      <p:pic>
        <p:nvPicPr>
          <p:cNvPr id="66" name="Picture 65" descr="experiment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578080" y="21749131"/>
            <a:ext cx="8151840" cy="3041272"/>
          </a:xfrm>
          <a:prstGeom prst="rect">
            <a:avLst/>
          </a:prstGeom>
        </p:spPr>
      </p:pic>
      <p:pic>
        <p:nvPicPr>
          <p:cNvPr id="67" name="Picture 66" descr="shap_fast_righ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660000" y="24898404"/>
            <a:ext cx="4473360" cy="407102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5660000" y="29059426"/>
            <a:ext cx="447336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349360" y="24898404"/>
            <a:ext cx="729864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Лучше всего было когда к исходным признакам добавлены три показателя: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Пик движения: максимальные колебания ускорения на 5-секундном отрезке внутри текущей эпохи.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Доля движения: доля активных 5-секундных отрезков в минутном окне — текущая эпоха и по 15 секунд до и после неё.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Относительный пульс: отклонение среднего пульса за минуту от медианы записи, делённое на медиану.</a:t>
            </a:r>
          </a:p>
        </p:txBody>
      </p:sp>
      <p:pic>
        <p:nvPicPr>
          <p:cNvPr id="70" name="Picture 69" descr="formula_fpea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814537" y="27550875"/>
            <a:ext cx="2368285" cy="540000"/>
          </a:xfrm>
          <a:prstGeom prst="rect">
            <a:avLst/>
          </a:prstGeom>
        </p:spPr>
      </p:pic>
      <p:pic>
        <p:nvPicPr>
          <p:cNvPr id="71" name="Picture 70" descr="formula_factiv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296537" y="28198875"/>
            <a:ext cx="3404285" cy="540000"/>
          </a:xfrm>
          <a:prstGeom prst="rect">
            <a:avLst/>
          </a:prstGeom>
        </p:spPr>
      </p:pic>
      <p:pic>
        <p:nvPicPr>
          <p:cNvPr id="72" name="Picture 71" descr="formula_fh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200473" y="28846875"/>
            <a:ext cx="1596413" cy="540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660000" y="29494875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Те же признаки на CatBoost и нейросети статьи</a:t>
            </a:r>
            <a:r>
              <a:rPr sz="1400" b="0">
                <a:solidFill>
                  <a:srgbClr val="1F2233"/>
                </a:solidFill>
                <a:latin typeface="Inter"/>
              </a:rPr>
              <a:t> — общая постановка проекта: leave-one-subject-out, порог найдёт 90% сна, время ночи — clock или cosine: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15660000" y="30107504"/>
          <a:ext cx="11987999" cy="2208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76023"/>
                <a:gridCol w="848979"/>
                <a:gridCol w="848979"/>
                <a:gridCol w="1110072"/>
                <a:gridCol w="848979"/>
                <a:gridCol w="848979"/>
                <a:gridCol w="848979"/>
                <a:gridCol w="848979"/>
                <a:gridCol w="1110072"/>
                <a:gridCol w="848979"/>
                <a:gridCol w="848979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Без быстрых признаков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 быстрыми признаками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 · время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ночи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0.890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0.511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15660000" y="32424368"/>
            <a:ext cx="11988000" cy="612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Быстрые признаки улучшают обе модели почти по всем метрикам.</a:t>
            </a:r>
            <a:r>
              <a:rPr sz="1400" b="0">
                <a:solidFill>
                  <a:srgbClr val="1F2233"/>
                </a:solidFill>
                <a:latin typeface="Inter"/>
              </a:rPr>
              <a:t> CatBoost: AUC 0.880 → </a:t>
            </a:r>
            <a:r>
              <a:rPr sz="1400" b="1">
                <a:solidFill>
                  <a:srgbClr val="434B9A"/>
                </a:solidFill>
                <a:latin typeface="Inter"/>
              </a:rPr>
              <a:t>0.890</a:t>
            </a:r>
            <a:r>
              <a:rPr sz="1400" b="0">
                <a:solidFill>
                  <a:srgbClr val="1F2233"/>
                </a:solidFill>
                <a:latin typeface="Inter"/>
              </a:rPr>
              <a:t> — лучший результат проекта; найдено бодрствования 68% → 71%, AP wake 0.547 → 0.585, κ 0.431 → 0.448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408000" y="33407953"/>
            <a:ext cx="12492000" cy="676804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365995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660000" y="34200581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60000" y="34326581"/>
            <a:ext cx="11988000" cy="569446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Статья воспроизводится.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 AUC моделей (0.86–0.88), accuracy и доли найденных стадий совпали с авторскими в пределах 0.01–0.03, хотя мы проверяли строже: каждого человека предсказывала модель, которая его не видела. Значит, результат статьи переносится на новых людей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Модель почти не важна — важны признаки.</a:t>
            </a:r>
            <a:r>
              <a:rPr sz="1600" b="0">
                <a:solidFill>
                  <a:srgbClr val="1F2233"/>
                </a:solidFill>
                <a:latin typeface="Inter"/>
              </a:rPr>
              <a:t> Пять моделей, от логистической регрессии до CatBoost, различаются по AUC лишь на 0.02. CatBoost лучший (AUC 0.880), но отрыв от нейросети статьи — в тысячных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Главное — движение и время ночи.</a:t>
            </a:r>
            <a:r>
              <a:rPr sz="1600" b="0">
                <a:solidFill>
                  <a:srgbClr val="1F2233"/>
                </a:solidFill>
                <a:latin typeface="Inter"/>
              </a:rPr>
              <a:t> По Шепли около половины прироста качества даёт движение, четверть–треть — clock, пульс — меньше всего, а для поиска бодрствования лишь 12–18%. Картина одинакова у всех моделей, то есть это свойство данных, а не модели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Accuracy скрывает главную слабость.</a:t>
            </a:r>
            <a:r>
              <a:rPr sz="1600" b="0">
                <a:solidFill>
                  <a:srgbClr val="1F2233"/>
                </a:solidFill>
                <a:latin typeface="Inter"/>
              </a:rPr>
              <a:t> «Всегда сон» даёт 0.916 — больше, чем 0.88 у моделей. Модели находят около 2/3 бодрствования, но верна лишь каждая третья метка «бодрствование»: тихое бодрствование без движения по часам не видно. REM — самый трудный класс (F1 ≈ 0.5). Поэтому оцениваем по κ, AP и F1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5.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 помогают всем моделям.</a:t>
            </a:r>
            <a:r>
              <a:rPr sz="1600" b="0">
                <a:solidFill>
                  <a:srgbClr val="1F2233"/>
                </a:solidFill>
                <a:latin typeface="Inter"/>
              </a:rPr>
              <a:t> Пик движения, доля движения за минуту и относительный пульс по 5-секундным отрезкам подняли κ нейросети команды с 0.496 до 0.534, а у CatBoost в общей постановке — AUC с 0.880 до 0.890 (лучший результат проекта) и долю найденного бодрствования с 68% до 71%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6.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Что дальше: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признаки, которые видят тихое бодрствование и REM (дыхание и вариабельность пульса по сырому сигналу PPG), учёт последовательности эпох во времени, проверка на других людях и устройствах (MESA) и вариант быстрых признаков без «заглядывания» на 15 с вперёд — для работы в реальном времени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0">
                <a:solidFill>
                  <a:srgbClr val="5B6075"/>
                </a:solidFill>
                <a:latin typeface="Inter"/>
              </a:rPr>
              <a:t>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