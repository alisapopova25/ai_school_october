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"/>
  </p:notesMasterIdLst>
  <p:sldIdLst>
    <p:sldId id="256" r:id="rId2"/>
  </p:sldIdLst>
  <p:sldSz cx="30276000" cy="42804000"/>
  <p:notesSz cx="6858000" cy="9144000"/>
  <p:embeddedFontLst>
    <p:embeddedFont>
      <p:font typeface="Inter" panose="02000503000000020004" pitchFamily="2" charset="0"/>
      <p:regular r:id="rId4"/>
      <p:bold r:id="rId5"/>
    </p:embeddedFont>
    <p:embeddedFont>
      <p:font typeface="Calibri" panose="020F0502020204030204" pitchFamily="34" charset="0"/>
      <p:regular r:id="rId6"/>
      <p:bold r:id="rId7"/>
      <p:italic r:id="rId8"/>
      <p:boldItalic r:id="rId9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Редактируемый шаблон финальной защиты проектной школы ИИ360. A0, 841 × 1189 мм, вертикальный. Обновлённый стиль взят из Figma, узел 1171:115: https://www.figma.com/design/fzcKsf2fHJIrk7iCM4UQ1L/?node-id=1171-115 . Логотип без овала, оригинальная фиолетовая контурная композиция, шрифт Inter. Заполняемые поля: номер команды, имя и фамилия ментора, компания, имена и фамилии студентов и вуз каждого, название статьи. Название статьи рассчитано на три строки. Строки авторов можно добавлять и удалять. Основную часть студенты оформляют самостоятельно. Все текстовые поля — отдельные редактируемые объекты. Декоративная композиция и логотип — оригинальные графические объекты. source_status: codex-inference. updated: 2026-10-06.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7120729" cy="25206397"/>
          </a:xfrm>
          <a:prstGeom prst="rect">
            <a:avLst/>
          </a:prstGeom>
        </p:spPr>
      </p:pic>
      <p:sp>
        <p:nvSpPr>
          <p:cNvPr id="2" name="Рамка постера">
            <a:extLst>
              <a:ext uri="{FF2B5EF4-FFF2-40B4-BE49-F238E27FC236}">
                <a16:creationId xmlns:a16="http://schemas.microsoft.com/office/drawing/2014/main" id="{5FC3877B-F97D-496D-B4B6-393FC7D4B18D}"/>
              </a:ext>
            </a:extLst>
          </p:cNvPr>
          <p:cNvSpPr>
            <a:spLocks noGrp="1"/>
          </p:cNvSpPr>
          <p:nvPr/>
        </p:nvSpPr>
        <p:spPr>
          <a:xfrm>
            <a:off x="1296000" y="1296000"/>
            <a:ext cx="27684000" cy="40212000"/>
          </a:xfrm>
          <a:prstGeom prst="rect">
            <a:avLst/>
          </a:prstGeom>
          <a:noFill/>
          <a:ln w="6350">
            <a:solidFill>
              <a:srgbClr val="62666A"/>
            </a:solidFill>
          </a:ln>
        </p:spPr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533598" y="2436000"/>
            <a:ext cx="6088178" cy="976480"/>
          </a:xfrm>
          <a:prstGeom prst="rect">
            <a:avLst/>
          </a:prstGeom>
        </p:spPr>
      </p:pic>
      <p:sp>
        <p:nvSpPr>
          <p:cNvPr id="4" name="Номер команды">
            <a:extLst>
              <a:ext uri="{FF2B5EF4-FFF2-40B4-BE49-F238E27FC236}">
                <a16:creationId xmlns:a16="http://schemas.microsoft.com/office/drawing/2014/main" id="{E157F3AA-CBAC-49FB-91D8-FBDA29241A4D}"/>
              </a:ext>
            </a:extLst>
          </p:cNvPr>
          <p:cNvSpPr>
            <a:spLocks noGrp="1"/>
          </p:cNvSpPr>
          <p:nvPr/>
        </p:nvSpPr>
        <p:spPr>
          <a:xfrm>
            <a:off x="10728000" y="2448000"/>
            <a:ext cx="7812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КОМАНДА № 11</a:t>
            </a:r>
          </a:p>
        </p:txBody>
      </p:sp>
      <p:sp>
        <p:nvSpPr>
          <p:cNvPr id="5" name="Авторы — подпись">
            <a:extLst>
              <a:ext uri="{FF2B5EF4-FFF2-40B4-BE49-F238E27FC236}">
                <a16:creationId xmlns:a16="http://schemas.microsoft.com/office/drawing/2014/main" id="{9008C856-E4A6-4EEE-A6CC-42E14E9782ED}"/>
              </a:ext>
            </a:extLst>
          </p:cNvPr>
          <p:cNvSpPr>
            <a:spLocks noGrp="1"/>
          </p:cNvSpPr>
          <p:nvPr/>
        </p:nvSpPr>
        <p:spPr>
          <a:xfrm>
            <a:off x="10728000" y="3852000"/>
            <a:ext cx="7812000" cy="64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АВТОРЫ</a:t>
            </a:r>
          </a:p>
        </p:txBody>
      </p:sp>
      <p:sp>
        <p:nvSpPr>
          <p:cNvPr id="6" name="Маркер автора 1">
            <a:extLst>
              <a:ext uri="{FF2B5EF4-FFF2-40B4-BE49-F238E27FC236}">
                <a16:creationId xmlns:a16="http://schemas.microsoft.com/office/drawing/2014/main" id="{316581A8-0CB3-400C-BCE6-59D5D32F0728}"/>
              </a:ext>
            </a:extLst>
          </p:cNvPr>
          <p:cNvSpPr>
            <a:spLocks noGrp="1"/>
          </p:cNvSpPr>
          <p:nvPr/>
        </p:nvSpPr>
        <p:spPr>
          <a:xfrm>
            <a:off x="10728000" y="4849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7" name="Автор 1 — имя, фамилия, вуз">
            <a:extLst>
              <a:ext uri="{FF2B5EF4-FFF2-40B4-BE49-F238E27FC236}">
                <a16:creationId xmlns:a16="http://schemas.microsoft.com/office/drawing/2014/main" id="{D26B2B05-831E-464E-8240-6D7837ED916B}"/>
              </a:ext>
            </a:extLst>
          </p:cNvPr>
          <p:cNvSpPr>
            <a:spLocks noGrp="1"/>
          </p:cNvSpPr>
          <p:nvPr/>
        </p:nvSpPr>
        <p:spPr>
          <a:xfrm>
            <a:off x="10980000" y="4590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Илларионов, ИТМО</a:t>
            </a:r>
          </a:p>
        </p:txBody>
      </p:sp>
      <p:sp>
        <p:nvSpPr>
          <p:cNvPr id="8" name="Маркер автора 2">
            <a:extLst>
              <a:ext uri="{FF2B5EF4-FFF2-40B4-BE49-F238E27FC236}">
                <a16:creationId xmlns:a16="http://schemas.microsoft.com/office/drawing/2014/main" id="{EEC4FCED-3B13-4D07-BDC1-12845FB34122}"/>
              </a:ext>
            </a:extLst>
          </p:cNvPr>
          <p:cNvSpPr>
            <a:spLocks noGrp="1"/>
          </p:cNvSpPr>
          <p:nvPr/>
        </p:nvSpPr>
        <p:spPr>
          <a:xfrm>
            <a:off x="10728000" y="54684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9" name="Автор 2 — имя, фамилия, вуз">
            <a:extLst>
              <a:ext uri="{FF2B5EF4-FFF2-40B4-BE49-F238E27FC236}">
                <a16:creationId xmlns:a16="http://schemas.microsoft.com/office/drawing/2014/main" id="{EC8AD367-93C6-46FE-9B77-66DC16D6BA3F}"/>
              </a:ext>
            </a:extLst>
          </p:cNvPr>
          <p:cNvSpPr>
            <a:spLocks noGrp="1"/>
          </p:cNvSpPr>
          <p:nvPr/>
        </p:nvSpPr>
        <p:spPr>
          <a:xfrm>
            <a:off x="10980000" y="52092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Алиса Попова, МФТИ</a:t>
            </a:r>
          </a:p>
        </p:txBody>
      </p:sp>
      <p:sp>
        <p:nvSpPr>
          <p:cNvPr id="10" name="Маркер автора 3">
            <a:extLst>
              <a:ext uri="{FF2B5EF4-FFF2-40B4-BE49-F238E27FC236}">
                <a16:creationId xmlns:a16="http://schemas.microsoft.com/office/drawing/2014/main" id="{C488C224-A1E2-4E81-B2F8-1126B0356DD6}"/>
              </a:ext>
            </a:extLst>
          </p:cNvPr>
          <p:cNvSpPr>
            <a:spLocks noGrp="1"/>
          </p:cNvSpPr>
          <p:nvPr/>
        </p:nvSpPr>
        <p:spPr>
          <a:xfrm>
            <a:off x="10728000" y="60876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1" name="Автор 3 — имя, фамилия, вуз">
            <a:extLst>
              <a:ext uri="{FF2B5EF4-FFF2-40B4-BE49-F238E27FC236}">
                <a16:creationId xmlns:a16="http://schemas.microsoft.com/office/drawing/2014/main" id="{382887BD-1277-4439-AD97-5E773D6DC76D}"/>
              </a:ext>
            </a:extLst>
          </p:cNvPr>
          <p:cNvSpPr>
            <a:spLocks noGrp="1"/>
          </p:cNvSpPr>
          <p:nvPr/>
        </p:nvSpPr>
        <p:spPr>
          <a:xfrm>
            <a:off x="10980000" y="58284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Андрей Москович, СПбГУ</a:t>
            </a:r>
          </a:p>
        </p:txBody>
      </p:sp>
      <p:sp>
        <p:nvSpPr>
          <p:cNvPr id="12" name="Маркер автора 4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67068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6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945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5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325999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3" name="Автор 4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64476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Ян Мусатов, ВШЭ</a:t>
            </a:r>
          </a:p>
        </p:txBody>
      </p:sp>
      <p:sp>
        <p:nvSpPr>
          <p:cNvPr id="13" name="Автор 6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686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Тучков, Иннополис</a:t>
            </a:r>
          </a:p>
        </p:txBody>
      </p:sp>
      <p:sp>
        <p:nvSpPr>
          <p:cNvPr id="13" name="Автор 5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0668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Владимир Турундаев, ВШЭ</a:t>
            </a:r>
          </a:p>
        </p:txBody>
      </p:sp>
      <p:sp>
        <p:nvSpPr>
          <p:cNvPr id="14" name="Ментор — подпись">
            <a:extLst>
              <a:ext uri="{FF2B5EF4-FFF2-40B4-BE49-F238E27FC236}">
                <a16:creationId xmlns:a16="http://schemas.microsoft.com/office/drawing/2014/main" id="{A5EA8EE2-B885-476F-A17F-50495C25D3B9}"/>
              </a:ext>
            </a:extLst>
          </p:cNvPr>
          <p:cNvSpPr>
            <a:spLocks noGrp="1"/>
          </p:cNvSpPr>
          <p:nvPr/>
        </p:nvSpPr>
        <p:spPr>
          <a:xfrm>
            <a:off x="19224000" y="2448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МЕНТОР</a:t>
            </a:r>
          </a:p>
        </p:txBody>
      </p:sp>
      <p:sp>
        <p:nvSpPr>
          <p:cNvPr id="15" name="Имя и фамилия ментора">
            <a:extLst>
              <a:ext uri="{FF2B5EF4-FFF2-40B4-BE49-F238E27FC236}">
                <a16:creationId xmlns:a16="http://schemas.microsoft.com/office/drawing/2014/main" id="{0B40D3C9-A620-4A1E-A587-D17C6ADFF1F2}"/>
              </a:ext>
            </a:extLst>
          </p:cNvPr>
          <p:cNvSpPr>
            <a:spLocks noGrp="1"/>
          </p:cNvSpPr>
          <p:nvPr/>
        </p:nvSpPr>
        <p:spPr>
          <a:xfrm>
            <a:off x="19224000" y="3204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Виктор Киселёв</a:t>
            </a:r>
          </a:p>
        </p:txBody>
      </p:sp>
      <p:sp>
        <p:nvSpPr>
          <p:cNvPr id="16" name="Компания ментора">
            <a:extLst>
              <a:ext uri="{FF2B5EF4-FFF2-40B4-BE49-F238E27FC236}">
                <a16:creationId xmlns:a16="http://schemas.microsoft.com/office/drawing/2014/main" id="{954087B2-2A75-475F-8C98-02D24FD2A14F}"/>
              </a:ext>
            </a:extLst>
          </p:cNvPr>
          <p:cNvSpPr>
            <a:spLocks noGrp="1"/>
          </p:cNvSpPr>
          <p:nvPr/>
        </p:nvSpPr>
        <p:spPr>
          <a:xfrm>
            <a:off x="19224000" y="3960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8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Сбер</a:t>
            </a:r>
          </a:p>
        </p:txBody>
      </p:sp>
      <p:sp>
        <p:nvSpPr>
          <p:cNvPr id="17" name="Статья — подпись">
            <a:extLst>
              <a:ext uri="{FF2B5EF4-FFF2-40B4-BE49-F238E27FC236}">
                <a16:creationId xmlns:a16="http://schemas.microsoft.com/office/drawing/2014/main" id="{B1E770D8-7687-42BD-83D3-A80DB8EEDACE}"/>
              </a:ext>
            </a:extLst>
          </p:cNvPr>
          <p:cNvSpPr>
            <a:spLocks noGrp="1"/>
          </p:cNvSpPr>
          <p:nvPr/>
        </p:nvSpPr>
        <p:spPr>
          <a:xfrm>
            <a:off x="19224000" y="5256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НАЗВАНИЕ СТАТЬИ</a:t>
            </a:r>
          </a:p>
        </p:txBody>
      </p:sp>
      <p:sp>
        <p:nvSpPr>
          <p:cNvPr id="18" name="Название статьи">
            <a:extLst>
              <a:ext uri="{FF2B5EF4-FFF2-40B4-BE49-F238E27FC236}">
                <a16:creationId xmlns:a16="http://schemas.microsoft.com/office/drawing/2014/main" id="{329A39A3-A22B-474F-8425-12F1C38309A9}"/>
              </a:ext>
            </a:extLst>
          </p:cNvPr>
          <p:cNvSpPr>
            <a:spLocks noGrp="1"/>
          </p:cNvSpPr>
          <p:nvPr/>
        </p:nvSpPr>
        <p:spPr>
          <a:xfrm>
            <a:off x="19224000" y="6084000"/>
            <a:ext cx="8928000" cy="270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Sleep stage prediction with raw acceleration and photoplethysmography heart rate data derived from a consumer wearable device</a:t>
            </a:r>
          </a:p>
          <a:p>
            <a:r>
              <a:rPr sz="2600" i="1">
                <a:solidFill>
                  <a:srgbClr val="5B6075"/>
                </a:solidFill>
                <a:latin typeface="Inter"/>
              </a:rPr>
              <a:t>O. Walch, Y. Huang, D. Forger, C. Goldstein. SLEEP, 2019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6000" y="8640000"/>
            <a:ext cx="21240000" cy="151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200" b="1">
                <a:solidFill>
                  <a:srgbClr val="434B9A"/>
                </a:solidFill>
                <a:latin typeface="Inter"/>
              </a:rPr>
              <a:t>Сон или бодрствование по Apple Watch: воспроизведение статьи, важность признаков и улучшение модели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76000" y="10404000"/>
            <a:ext cx="12492000" cy="9300823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28000" y="10656000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1. Статья и задача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28000" y="11196628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28000" y="11322628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Полисомнография (PSG) — эталон измерения сна, но нужны лаборатория, датчики на голове и специалист, поэтому сон измеряют одну-две ночи. </a:t>
            </a:r>
            <a:r>
              <a:rPr sz="1600" b="1">
                <a:solidFill>
                  <a:srgbClr val="434B9A"/>
                </a:solidFill>
                <a:latin typeface="Inter"/>
              </a:rPr>
              <a:t>Можно ли размечать сон по смарт-часам — каждую ночь и дома?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28000" y="12007346"/>
            <a:ext cx="11988000" cy="380590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Что сделали авторы:</a:t>
            </a:r>
            <a:r>
              <a:rPr sz="1600" b="0">
                <a:solidFill>
                  <a:srgbClr val="1F2233"/>
                </a:solidFill>
                <a:latin typeface="Inter"/>
              </a:rPr>
              <a:t> своё приложение для Apple Watch впервые дало сырые данные ускорения (50 раз в секунду) и пульса (≈ раз в 5 с) одновременно с PSG; данные и код открыты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Данные:</a:t>
            </a:r>
            <a:r>
              <a:rPr sz="1600" b="0">
                <a:solidFill>
                  <a:srgbClr val="1F2233"/>
                </a:solidFill>
                <a:latin typeface="Inter"/>
              </a:rPr>
              <a:t> 31 человек (21 женщина, средний возраст 29 лет): ночь в лаборатории с PSG и часами + неделя с часами дома до неё (по шагам оценивается режим дня)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Задача:</a:t>
            </a:r>
            <a:r>
              <a:rPr sz="1600" b="0">
                <a:solidFill>
                  <a:srgbClr val="1F2233"/>
                </a:solidFill>
                <a:latin typeface="Inter"/>
              </a:rPr>
              <a:t> ночь режется на эпохи по 30 с; для каждой по данным часов нужно угадать стадию, которую по PSG поставил специалист. Две постановки: </a:t>
            </a:r>
            <a:r>
              <a:rPr sz="16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600" b="0">
                <a:solidFill>
                  <a:srgbClr val="1F2233"/>
                </a:solidFill>
                <a:latin typeface="Inter"/>
              </a:rPr>
              <a:t> и </a:t>
            </a:r>
            <a:r>
              <a:rPr sz="1600" b="1">
                <a:solidFill>
                  <a:srgbClr val="434B9A"/>
                </a:solidFill>
                <a:latin typeface="Inter"/>
              </a:rPr>
              <a:t>бодрствование / NREM / REM</a:t>
            </a:r>
            <a:r>
              <a:rPr sz="1600" b="0">
                <a:solidFill>
                  <a:srgbClr val="1F2233"/>
                </a:solidFill>
                <a:latin typeface="Inter"/>
              </a:rPr>
              <a:t> (NREM — неглубокий и глубокий сон N1–N3, REM — сон с быстрыми движениями глаз). Из предсказаний собираются гипнограмма и показатели ночи: время сна, засыпания, пробуждений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Результат статьи</a:t>
            </a:r>
            <a:r>
              <a:rPr sz="1600" b="0">
                <a:solidFill>
                  <a:srgbClr val="1F2233"/>
                </a:solidFill>
                <a:latin typeface="Inter"/>
              </a:rPr>
              <a:t> — лучшая модель — нейросеть, обученная на признаках motion + hr + clock. Сон / бодрствование: порог подобран, чтобы найти 93% эпох сна; тогда найдено 59.6% эпох бодрствования и всего верно 90% эпох (κ = 0.45). Три класса: в лучшей точке верно ≈ 72% эпох. На 188 людях из исследования MESA (другой прибор и люди) — сопоставимо</a:t>
            </a:r>
          </a:p>
        </p:txBody>
      </p:sp>
      <p:pic>
        <p:nvPicPr>
          <p:cNvPr id="28" name="Picture 27" descr="night_po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8000" y="15813253"/>
            <a:ext cx="6474600" cy="32961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628000" y="19199413"/>
            <a:ext cx="64746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Испытуемый 46343; движение — activity counts (усл. ед.)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18600" y="16198120"/>
            <a:ext cx="52974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Как читать: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8600" y="16558434"/>
            <a:ext cx="5297400" cy="26164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Движение</a:t>
            </a:r>
            <a:r>
              <a:rPr sz="1400" b="0">
                <a:solidFill>
                  <a:srgbClr val="1F2233"/>
                </a:solidFill>
                <a:latin typeface="Inter"/>
              </a:rPr>
              <a:t> во сне почти всегда 0; пики — пробуждения или ворочания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Пульс</a:t>
            </a:r>
            <a:r>
              <a:rPr sz="1400" b="0">
                <a:solidFill>
                  <a:srgbClr val="1F2233"/>
                </a:solidFill>
                <a:latin typeface="Inter"/>
              </a:rPr>
              <a:t> ровный в глубоком сне N3 и скачет при пробуждениях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Стадии</a:t>
            </a:r>
            <a:r>
              <a:rPr sz="1400" b="0">
                <a:solidFill>
                  <a:srgbClr val="1F2233"/>
                </a:solidFill>
                <a:latin typeface="Inter"/>
              </a:rPr>
              <a:t> идут циклами ≈ 90 мин: N3 — в начале ночи, REM к утру длиннее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Трудное место:</a:t>
            </a:r>
            <a:r>
              <a:rPr sz="1400" b="0">
                <a:solidFill>
                  <a:srgbClr val="1F2233"/>
                </a:solidFill>
                <a:latin typeface="Inter"/>
              </a:rPr>
              <a:t> в начале ночи человек не спит, но почти не двигается — по часам это бодрствование не видно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76000" y="19920823"/>
            <a:ext cx="12492000" cy="512082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28000" y="20172823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2. Признаки: одно значение на каждую эпоху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28000" y="20713452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28000" y="20839452"/>
            <a:ext cx="11988000" cy="26524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motion</a:t>
            </a:r>
            <a:r>
              <a:rPr sz="1600" b="0">
                <a:solidFill>
                  <a:srgbClr val="1F2233"/>
                </a:solidFill>
                <a:latin typeface="Inter"/>
              </a:rPr>
              <a:t> — сколько человек двигался: ускорение по оси z → полосовой фильтр 3–11 Гц (убирает гравитацию и шум) → суммы за 15 с («activity counts», как у актиграфов) → сглаживание окном ≈ 10 мин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hr</a:t>
            </a:r>
            <a:r>
              <a:rPr sz="1600" b="0">
                <a:solidFill>
                  <a:srgbClr val="1F2233"/>
                </a:solidFill>
                <a:latin typeface="Inter"/>
              </a:rPr>
              <a:t> — локальная вариабельность пульса: стандартное отклонение за ≈ 10 мин после полосового фильтра «разность гауссиан» (убирает дрейф за ночь); мала в глубоком сне, велика при пробуждениях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clock</a:t>
            </a:r>
            <a:r>
              <a:rPr sz="1600" b="0">
                <a:solidFill>
                  <a:srgbClr val="1F2233"/>
                </a:solidFill>
                <a:latin typeface="Inter"/>
              </a:rPr>
              <a:t> — фаза суточного ритма: шаги за прошлые дни → оценка освещённости → модель внутренних часов Forger (1999) → волна x(t); ночные данные не нужны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В статье сравнивали также </a:t>
            </a:r>
            <a:r>
              <a:rPr sz="1600" b="1">
                <a:solidFill>
                  <a:srgbClr val="434B9A"/>
                </a:solidFill>
                <a:latin typeface="Inter"/>
              </a:rPr>
              <a:t>cosine</a:t>
            </a:r>
            <a:r>
              <a:rPr sz="1600" b="0">
                <a:solidFill>
                  <a:srgbClr val="1F2233"/>
                </a:solidFill>
                <a:latin typeface="Inter"/>
              </a:rPr>
              <a:t> (одинаковая для всех волна 24 ч) и </a:t>
            </a:r>
            <a:r>
              <a:rPr sz="1600" b="1">
                <a:solidFill>
                  <a:srgbClr val="434B9A"/>
                </a:solidFill>
                <a:latin typeface="Inter"/>
              </a:rPr>
              <a:t>time</a:t>
            </a:r>
            <a:r>
              <a:rPr sz="1600" b="0">
                <a:solidFill>
                  <a:srgbClr val="1F2233"/>
                </a:solidFill>
                <a:latin typeface="Inter"/>
              </a:rPr>
              <a:t> (часы от отбоя); лучший результат — с clock</a:t>
            </a:r>
          </a:p>
        </p:txBody>
      </p:sp>
      <p:pic>
        <p:nvPicPr>
          <p:cNvPr id="36" name="Picture 35" descr="formula_c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7892" y="23491923"/>
            <a:ext cx="2688215" cy="684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28000" y="24283923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x — состояние модели внутренних часов (без единиц). Шкала перевёрнута: clock = 0 — человек лёг, 1 — дно суточного ритма (≈ 4 ч ночи, минимум x); под утро clock снова уменьшается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376000" y="25257647"/>
            <a:ext cx="12492000" cy="566073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28000" y="25509647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3. Модели, проверка и метрики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28000" y="26050276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28000" y="26176276"/>
            <a:ext cx="11988000" cy="19965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Модели статьи:</a:t>
            </a:r>
            <a:r>
              <a:rPr sz="1600" b="0">
                <a:solidFill>
                  <a:srgbClr val="1F2233"/>
                </a:solidFill>
                <a:latin typeface="Inter"/>
              </a:rPr>
              <a:t> логистическая регрессия, kNN (k = 500), случайный лес, нейросеть MLP (3 слоя по 15); </a:t>
            </a:r>
            <a:r>
              <a:rPr sz="1600" b="1">
                <a:solidFill>
                  <a:srgbClr val="434B9A"/>
                </a:solidFill>
                <a:latin typeface="Inter"/>
              </a:rPr>
              <a:t>наша добавка — CatBoost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Проверка:</a:t>
            </a:r>
            <a:r>
              <a:rPr sz="1600" b="0">
                <a:solidFill>
                  <a:srgbClr val="1F2233"/>
                </a:solidFill>
                <a:latin typeface="Inter"/>
              </a:rPr>
              <a:t> в статье — 50 случайных разбиений людей 70/30; у нас — leave-one-subject-out: каждого из 31 человека предсказывает модель, обученная на остальных 30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Порог</a:t>
            </a:r>
            <a:r>
              <a:rPr sz="1600" b="0">
                <a:solidFill>
                  <a:srgbClr val="1F2233"/>
                </a:solidFill>
                <a:latin typeface="Inter"/>
              </a:rPr>
              <a:t> на P(сон) подбирается так, чтобы найти заданную долю сна (в таблицах — 90%), и смотрим, сколько найдено бодрствования</a:t>
            </a:r>
          </a:p>
        </p:txBody>
      </p:sp>
      <p:pic>
        <p:nvPicPr>
          <p:cNvPr id="42" name="Picture 41" descr="formula_logre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2501" y="28172829"/>
            <a:ext cx="4798997" cy="57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628000" y="28856829"/>
            <a:ext cx="11988000" cy="1196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Accuracy</a:t>
            </a:r>
            <a:r>
              <a:rPr sz="1400" b="0">
                <a:solidFill>
                  <a:srgbClr val="1F2233"/>
                </a:solidFill>
                <a:latin typeface="Inter"/>
              </a:rPr>
              <a:t> — доля верных эпох; </a:t>
            </a:r>
            <a:r>
              <a:rPr sz="1400" b="1">
                <a:solidFill>
                  <a:srgbClr val="434B9A"/>
                </a:solidFill>
                <a:latin typeface="Inter"/>
              </a:rPr>
              <a:t>Найдено wake</a:t>
            </a:r>
            <a:r>
              <a:rPr sz="1400" b="0">
                <a:solidFill>
                  <a:srgbClr val="1F2233"/>
                </a:solidFill>
                <a:latin typeface="Inter"/>
              </a:rPr>
              <a:t> — доля эпох бодрствования, названных бодрствованием (специфичность); </a:t>
            </a:r>
            <a:r>
              <a:rPr sz="1400" b="1">
                <a:solidFill>
                  <a:srgbClr val="434B9A"/>
                </a:solidFill>
                <a:latin typeface="Inter"/>
              </a:rPr>
              <a:t>κ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согласие с PSG сверх случайного (0 — как монетка, 1 — полное)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AUC</a:t>
            </a:r>
            <a:r>
              <a:rPr sz="1400" b="0">
                <a:solidFill>
                  <a:srgbClr val="1F2233"/>
                </a:solidFill>
                <a:latin typeface="Inter"/>
              </a:rPr>
              <a:t> — качество упорядочивания эпох по всем порогам (0.5 — случайно); </a:t>
            </a:r>
            <a:r>
              <a:rPr sz="1400" b="1">
                <a:solidFill>
                  <a:srgbClr val="434B9A"/>
                </a:solidFill>
                <a:latin typeface="Inter"/>
              </a:rPr>
              <a:t>AP wake</a:t>
            </a:r>
            <a:r>
              <a:rPr sz="1400" b="0">
                <a:solidFill>
                  <a:srgbClr val="1F2233"/>
                </a:solidFill>
                <a:latin typeface="Inter"/>
              </a:rPr>
              <a:t> — площадь под кривой precision–recall для бодрствования (случайно — 0.084); </a:t>
            </a:r>
            <a:r>
              <a:rPr sz="1400" b="1">
                <a:solidFill>
                  <a:srgbClr val="434B9A"/>
                </a:solidFill>
                <a:latin typeface="Inter"/>
              </a:rPr>
              <a:t>F1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среднее гармоническое точности и полноты класса, </a:t>
            </a:r>
            <a:r>
              <a:rPr sz="1400" b="1">
                <a:solidFill>
                  <a:srgbClr val="434B9A"/>
                </a:solidFill>
                <a:latin typeface="Inter"/>
              </a:rPr>
              <a:t>Macro F1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среднее по классам</a:t>
            </a:r>
          </a:p>
        </p:txBody>
      </p:sp>
      <p:pic>
        <p:nvPicPr>
          <p:cNvPr id="44" name="Picture 43" descr="formula_kapp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61865" y="30053286"/>
            <a:ext cx="1407263" cy="612000"/>
          </a:xfrm>
          <a:prstGeom prst="rect">
            <a:avLst/>
          </a:prstGeom>
        </p:spPr>
      </p:pic>
      <p:pic>
        <p:nvPicPr>
          <p:cNvPr id="45" name="Picture 44" descr="formula_f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9129" y="30053286"/>
            <a:ext cx="2653004" cy="612000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2376000" y="31134382"/>
            <a:ext cx="12492000" cy="9041617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28000" y="31386382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4. Воспроизведение: совпало со статьёй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28000" y="31927010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28000" y="32053010"/>
            <a:ext cx="119880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400" b="0">
                <a:solidFill>
                  <a:srgbClr val="1F2233"/>
                </a:solidFill>
                <a:latin typeface="Inter"/>
              </a:rPr>
              <a:t> (признаки motion + hr + clock; порог найдёт 90% сна):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2628000" y="32413324"/>
          <a:ext cx="11987993" cy="254037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51676"/>
                <a:gridCol w="797371"/>
                <a:gridCol w="1001791"/>
                <a:gridCol w="1017016"/>
                <a:gridCol w="797371"/>
                <a:gridCol w="797371"/>
                <a:gridCol w="797371"/>
                <a:gridCol w="797371"/>
                <a:gridCol w="755924"/>
                <a:gridCol w="1001791"/>
                <a:gridCol w="1017016"/>
                <a:gridCol w="755924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Статья (Monte Carlo)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Лог. регрессия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0.617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0.392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0.479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0.457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0.854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0.556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0.347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kNN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0.668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0.391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0.418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0.405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0.712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0.680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0.431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0.547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0.492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0.713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628000" y="35061702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Три класса</a:t>
            </a:r>
            <a:r>
              <a:rPr sz="1400" b="0">
                <a:solidFill>
                  <a:srgbClr val="1F2233"/>
                </a:solidFill>
                <a:latin typeface="Inter"/>
              </a:rPr>
              <a:t> (найдено 60% бодрствования; «найдено NREM / REM» — при уравненных долях, «лучшая accuracy» и κ — в лучшей по accuracy точке, как в статье):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2628000" y="35674330"/>
          <a:ext cx="11987995" cy="254037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58951"/>
                <a:gridCol w="1043366"/>
                <a:gridCol w="1043366"/>
                <a:gridCol w="1001072"/>
                <a:gridCol w="823721"/>
                <a:gridCol w="823721"/>
                <a:gridCol w="823721"/>
                <a:gridCol w="1043366"/>
                <a:gridCol w="1043366"/>
                <a:gridCol w="1001072"/>
                <a:gridCol w="782273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6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Статья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Лучшая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Лучшая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Лог. регрессия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0.175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0.572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0.130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kNN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0.184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0.571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0.721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0.243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0.249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0.302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0.228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0.583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0.723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0.649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0.654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0.704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0.244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0.586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0.497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2628000" y="38322709"/>
            <a:ext cx="11988000" cy="17081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Совпало:</a:t>
            </a:r>
            <a:r>
              <a:rPr sz="1600" b="0">
                <a:solidFill>
                  <a:srgbClr val="1F2233"/>
                </a:solidFill>
                <a:latin typeface="Inter"/>
              </a:rPr>
              <a:t> AUC, accuracy и доли найденных стадий — в пределах 0.01–0.03 от статьи при другой схеме проверки. CatBoost лучший по большинству метрик, но отрыв в тысячных: качество упирается в признаки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Accuracy обманчива:</a:t>
            </a:r>
            <a:r>
              <a:rPr sz="1600" b="0">
                <a:solidFill>
                  <a:srgbClr val="1F2233"/>
                </a:solidFill>
                <a:latin typeface="Inter"/>
              </a:rPr>
              <a:t> бодрствование — 8.4% эпох, и «всегда сон» даёт 0.916 &gt; 0.88 у всех моделей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Слабость:</a:t>
            </a:r>
            <a:r>
              <a:rPr sz="1600" b="0">
                <a:solidFill>
                  <a:srgbClr val="1F2233"/>
                </a:solidFill>
                <a:latin typeface="Inter"/>
              </a:rPr>
              <a:t> найдено ≈ 2/3 бодрствования, но верна лишь каждая третья метка «бодрствование» (PPV 0.36–0.39): тихое бодрствование без движения не видно. REM — самый трудный (F1 ≈ 0.5)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5408000" y="10404000"/>
            <a:ext cx="12492000" cy="1014935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660000" y="10656000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5. Какие признаки важны: значения Шепли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660000" y="11196628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formula_shaple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05780" y="11322628"/>
            <a:ext cx="5296438" cy="720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5660000" y="12150628"/>
            <a:ext cx="11988000" cy="35175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Идея:</a:t>
            </a:r>
            <a:r>
              <a:rPr sz="1600" b="0">
                <a:solidFill>
                  <a:srgbClr val="1F2233"/>
                </a:solidFill>
                <a:latin typeface="Inter"/>
              </a:rPr>
              <a:t> признаки — «игроки», качество модели — «выигрыш». Модель переобучается на всех 7 непустых подмножествах {motion, hr, clock}; вклад признака φᵢ — его средний прирост метрики по всем порядкам добавления. Отсчёт — от случайной модели (AUC 0.5), сумма вкладов = качество полной модели − 0.5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Почему не просто «качество одного признака»:</a:t>
            </a:r>
            <a:r>
              <a:rPr sz="1600" b="0">
                <a:solidFill>
                  <a:srgbClr val="1F2233"/>
                </a:solidFill>
                <a:latin typeface="Inter"/>
              </a:rPr>
              <a:t> признаки частично дублируют друг друга (при движении растёт и пульс). Motion, добавленный первым, даёт +0.29 AUC, а последним — лишь +0.05. Шепли делит общую информацию поровну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Результат:</a:t>
            </a:r>
            <a:r>
              <a:rPr sz="1600" b="0">
                <a:solidFill>
                  <a:srgbClr val="1F2233"/>
                </a:solidFill>
                <a:latin typeface="Inter"/>
              </a:rPr>
              <a:t> motion — около половины прироста, clock — четверть–треть, hr — меньше всех; картина одинакова у всех пяти моделей. Для поиска бодрствования (AP wake) доля пульса падает до 12%: он помогает упорядочить эпохи в целом, но почти не помогает точно находить бодрствование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SHAP по эпохам</a:t>
            </a:r>
            <a:r>
              <a:rPr sz="1600" b="0">
                <a:solidFill>
                  <a:srgbClr val="1F2233"/>
                </a:solidFill>
                <a:latin typeface="Inter"/>
              </a:rPr>
              <a:t> (вклад признака в P(сон) конкретной эпохи): покой → сон, движение → бодрствование, начало ночи → бодрствование, ровный пульс → немного к сну</a:t>
            </a:r>
          </a:p>
        </p:txBody>
      </p:sp>
      <p:pic>
        <p:nvPicPr>
          <p:cNvPr id="59" name="Picture 58" descr="shapley_post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99160" y="15668176"/>
            <a:ext cx="10309680" cy="3829309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15408000" y="20769355"/>
            <a:ext cx="12492000" cy="14960033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5660000" y="21021355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6. Улучшение модели: быстрые признаки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660000" y="21561984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660000" y="21687984"/>
            <a:ext cx="11988000" cy="8650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Эксперимент команды: нейросеть MLP (15, 15, 15), порог P(сон) ≥ 0.5, признаки motion, hr и время ночи. Добавили 3 «быстрых» признака, которые считаются по 5-секундным отрезкам: m — корень из суммы дисперсий ускорения по трём осям, τ = 0.02 g, минутное окно W = [t − 15, t + 45) с</a:t>
            </a:r>
          </a:p>
        </p:txBody>
      </p:sp>
      <p:pic>
        <p:nvPicPr>
          <p:cNvPr id="64" name="Picture 63" descr="formula_fpea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266976" y="22661060"/>
            <a:ext cx="2999828" cy="684000"/>
          </a:xfrm>
          <a:prstGeom prst="rect">
            <a:avLst/>
          </a:prstGeom>
        </p:spPr>
      </p:pic>
      <p:pic>
        <p:nvPicPr>
          <p:cNvPr id="65" name="Picture 64" descr="formula_factiv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986804" y="22661060"/>
            <a:ext cx="4312095" cy="684000"/>
          </a:xfrm>
          <a:prstGeom prst="rect">
            <a:avLst/>
          </a:prstGeom>
        </p:spPr>
      </p:pic>
      <p:pic>
        <p:nvPicPr>
          <p:cNvPr id="66" name="Picture 65" descr="formula_fhr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018899" y="22661060"/>
            <a:ext cx="2022124" cy="6840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5660000" y="23453060"/>
            <a:ext cx="11988000" cy="17081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f_peak</a:t>
            </a:r>
            <a:r>
              <a:rPr sz="1600" b="0">
                <a:solidFill>
                  <a:srgbClr val="1F2233"/>
                </a:solidFill>
                <a:latin typeface="Inter"/>
              </a:rPr>
              <a:t> — самый сильный короткий всплеск движения в эпохе; логарифм гасит редкие очень большие значения (при max m = 0.04 g получаем ln 3 ≈ 1.1)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f_active</a:t>
            </a:r>
            <a:r>
              <a:rPr sz="1600" b="0">
                <a:solidFill>
                  <a:srgbClr val="1F2233"/>
                </a:solidFill>
                <a:latin typeface="Inter"/>
              </a:rPr>
              <a:t> — как часто двигались в течение минуты: доля 5-секундных отрезков с m ≥ τ (от 0 до 1)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f_HR</a:t>
            </a:r>
            <a:r>
              <a:rPr sz="1600" b="0">
                <a:solidFill>
                  <a:srgbClr val="1F2233"/>
                </a:solidFill>
                <a:latin typeface="Inter"/>
              </a:rPr>
              <a:t> — средний пульс за минуту относительно медианы всей записи: +0.1 — на 10% выше обычного для этого человека, −0.05 — на 5% ниже</a:t>
            </a:r>
          </a:p>
        </p:txBody>
      </p:sp>
      <p:pic>
        <p:nvPicPr>
          <p:cNvPr id="68" name="Picture 67" descr="experiment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7218440" y="25161255"/>
            <a:ext cx="8871120" cy="330962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660000" y="28560875"/>
            <a:ext cx="119880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Все варианты, которые пробовала команда: точка правее пунктира — лучше исходной модели</a:t>
            </a:r>
          </a:p>
        </p:txBody>
      </p:sp>
      <p:pic>
        <p:nvPicPr>
          <p:cNvPr id="70" name="Picture 69" descr="shap_fast_right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660000" y="28921189"/>
            <a:ext cx="5179680" cy="4713815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5660000" y="33725005"/>
            <a:ext cx="517968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SHAP расширенного MLP (график команды)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055680" y="28921189"/>
            <a:ext cx="6592320" cy="524770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Лучше всего — исходные признаки + 3 быстрых:</a:t>
            </a:r>
            <a:r>
              <a:rPr sz="1600" b="0">
                <a:solidFill>
                  <a:srgbClr val="1F2233"/>
                </a:solidFill>
                <a:latin typeface="Inter"/>
              </a:rPr>
              <a:t> κ 0.496 → 0.534, AUC 0.908 → 0.917. Быстрые признаки ловят короткие движения и учащение пульса, которые сглаженный motion «размазывает» по 10 минутам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Помогают</a:t>
            </a:r>
            <a:r>
              <a:rPr sz="1600" b="0">
                <a:solidFill>
                  <a:srgbClr val="1F2233"/>
                </a:solidFill>
                <a:latin typeface="Inter"/>
              </a:rPr>
              <a:t> соседние эпохи и статистики короткого окна: сон «липкий», контекст соседних минут подсказывает стадию. </a:t>
            </a:r>
            <a:r>
              <a:rPr sz="1600" b="1">
                <a:solidFill>
                  <a:srgbClr val="434B9A"/>
                </a:solidFill>
                <a:latin typeface="Inter"/>
              </a:rPr>
              <a:t>Не помогают</a:t>
            </a:r>
            <a:r>
              <a:rPr sz="1600" b="0">
                <a:solidFill>
                  <a:srgbClr val="1F2233"/>
                </a:solidFill>
                <a:latin typeface="Inter"/>
              </a:rPr>
              <a:t> повтор примеров бодрствования (модель переобучается на редких примерах, AUC падает) и разности соседних эпох без сглаживания (слишком шумные)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SHAP расширенной модели:</a:t>
            </a:r>
            <a:r>
              <a:rPr sz="1600" b="0">
                <a:solidFill>
                  <a:srgbClr val="1F2233"/>
                </a:solidFill>
                <a:latin typeface="Inter"/>
              </a:rPr>
              <a:t> доля движения за минуту (|SHAP| 0.024) работает почти как motion (0.034); пик движения и относительный пульс слабее (0.009 и 0.005); время ночи остаётся самым сильным признаком (0.049)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Ограничение:</a:t>
            </a:r>
            <a:r>
              <a:rPr sz="1600" b="0">
                <a:solidFill>
                  <a:srgbClr val="1F2233"/>
                </a:solidFill>
                <a:latin typeface="Inter"/>
              </a:rPr>
              <a:t> окно заглядывает на 15 с вперёд, а медиана пульса берётся по всей записи — это анализ готовой записи, а не предсказание в реальном времени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5660000" y="34168892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1F2233"/>
                </a:solidFill>
                <a:latin typeface="Inter"/>
              </a:rPr>
              <a:t>Те же признаки добавлены к </a:t>
            </a:r>
            <a:r>
              <a:rPr sz="1400" b="1">
                <a:solidFill>
                  <a:srgbClr val="434B9A"/>
                </a:solidFill>
                <a:latin typeface="Inter"/>
              </a:rPr>
              <a:t>CatBoost</a:t>
            </a:r>
            <a:r>
              <a:rPr sz="1400" b="0">
                <a:solidFill>
                  <a:srgbClr val="1F2233"/>
                </a:solidFill>
                <a:latin typeface="Inter"/>
              </a:rPr>
              <a:t> и нейросети в общей постановке проекта (motion, hr, clock; leave-one-subject-out): python repro/10_fast_features.py — после запуска таблица появится здесь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5408000" y="35945389"/>
            <a:ext cx="12492000" cy="423061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5660000" y="36197389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Выводы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5660000" y="36738017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5660000" y="36864017"/>
            <a:ext cx="11988000" cy="23641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1.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Воспроизвели статью</a:t>
            </a:r>
            <a:r>
              <a:rPr sz="1600" b="0">
                <a:solidFill>
                  <a:srgbClr val="1F2233"/>
                </a:solidFill>
                <a:latin typeface="Inter"/>
              </a:rPr>
              <a:t> на открытых данных и современном Python: AUC 0.86–0.88 и доли найденных стадий — как у авторов; добавленный CatBoost — AUC 0.880, лучший, но с минимальным отрывом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2.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Главные признаки</a:t>
            </a:r>
            <a:r>
              <a:rPr sz="1600" b="0">
                <a:solidFill>
                  <a:srgbClr val="1F2233"/>
                </a:solidFill>
                <a:latin typeface="Inter"/>
              </a:rPr>
              <a:t> — движение и время ночи (clock); пульс добавляет меньше всего, особенно для поиска бодрствования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3.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Слабые места</a:t>
            </a:r>
            <a:r>
              <a:rPr sz="1600" b="0">
                <a:solidFill>
                  <a:srgbClr val="1F2233"/>
                </a:solidFill>
                <a:latin typeface="Inter"/>
              </a:rPr>
              <a:t> — тихое бодрствование без движения и REM; accuracy это скрывает, поэтому нужны κ, F1 и AP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4.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Быстрые признаки</a:t>
            </a:r>
            <a:r>
              <a:rPr sz="1600" b="0">
                <a:solidFill>
                  <a:srgbClr val="1F2233"/>
                </a:solidFill>
                <a:latin typeface="Inter"/>
              </a:rPr>
              <a:t> движения и пульса за 5 секунд — минуту поднимают κ нейросети с 0.496 до 0.534 и AUC с 0.908 до 0.917; их проверка на CatBoost — в репозитории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76000" y="40391999"/>
            <a:ext cx="25524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[1] Walch O. et al. Sleep stage prediction with raw acceleration and photoplethysmography heart rate data derived from a consumer wearable device. SLEEP, 2019   [2] Forger D. et al. A simpler model of the human circadian pacemaker. J. Biol. Rhythms, 1999   [3] Lundberg S., Lee S. A unified approach to interpreting model predictions. NeurIPS, 2017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5B6075"/>
                </a:solidFill>
                <a:latin typeface="Inter"/>
              </a:rPr>
              <a:t>Код и все результаты:</a:t>
            </a:r>
            <a:r>
              <a:rPr sz="1900" b="0">
                <a:solidFill>
                  <a:srgbClr val="5B6075"/>
                </a:solidFill>
                <a:latin typeface="Inter"/>
              </a:rPr>
              <a:t> github.com/AlisaPopova25/ai_school_october      AI360 · Проектная школа · 2026</a:t>
            </a:r>
          </a:p>
        </p:txBody>
      </p:sp>
    </p:spTree>
    <p:extLst>
      <p:ext uri="{BB962C8B-B14F-4D97-AF65-F5344CB8AC3E}">
        <p14:creationId xmlns:p14="http://schemas.microsoft.com/office/powerpoint/2010/main" val="96848128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</Words>
  <Application>Microsoft Office PowerPoint</Application>
  <DocSecurity>0</DocSecurity>
  <PresentationFormat>Произвольный</PresentationFormat>
  <Paragraphs>12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4" baseType="lpstr">
      <vt:lpstr>Inter</vt:lpstr>
      <vt:lpstr>Calibri</vt:lpstr>
      <vt:lpstr>ChatGPT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Ruslan</cp:lastModifiedBy>
  <cp:revision>1</cp:revision>
  <dcterms:created xsi:type="dcterms:W3CDTF">2026-10-06T15:44:02Z</dcterms:created>
  <dcterms:modified xsi:type="dcterms:W3CDTF">2026-10-06T15:44:18Z</dcterms:modified>
</cp:coreProperties>
</file>