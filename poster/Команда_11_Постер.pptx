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51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404000"/>
            <a:ext cx="12492000" cy="895268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32262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Полисомнография (PSG) — эталон измерения сна, но нужны лаборатория, датчики на голове и специалист, поэтому сон измеряют одну-две ночи. </a:t>
            </a:r>
            <a:r>
              <a:rPr sz="1600" b="1">
                <a:solidFill>
                  <a:srgbClr val="434B9A"/>
                </a:solidFill>
                <a:latin typeface="Inter"/>
              </a:rPr>
              <a:t>Можно ли размечать сон по смарт-часам — каждую ночь и дома?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007346"/>
            <a:ext cx="11988000" cy="380590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Что сделали авторы:</a:t>
            </a:r>
            <a:r>
              <a:rPr sz="1600" b="0">
                <a:solidFill>
                  <a:srgbClr val="1F2233"/>
                </a:solidFill>
                <a:latin typeface="Inter"/>
              </a:rPr>
              <a:t> своё приложение для Apple Watch впервые дало сырые данные ускорения (50 раз в секунду) и пульса (оптический датчик, ≈ раз в 5 с) вместе с PSG; данные и код открыты — на них мы и работали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1600" b="0">
                <a:solidFill>
                  <a:srgbClr val="1F2233"/>
                </a:solidFill>
                <a:latin typeface="Inter"/>
              </a:rPr>
              <a:t> 31 человек (21 женщина, средний возраст 29 лет): ночь в лаборатории с PSG и часами + неделя с часами дома до неё (по шагам оценивается режим дня)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1600" b="0">
                <a:solidFill>
                  <a:srgbClr val="1F2233"/>
                </a:solidFill>
                <a:latin typeface="Inter"/>
              </a:rPr>
              <a:t> ночь режется на эпохи по 30 с; для каждой по данным часов нужно угадать стадию, которую по PSG поставил специалист. Две постановки: </a:t>
            </a:r>
            <a:r>
              <a:rPr sz="16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600" b="0">
                <a:solidFill>
                  <a:srgbClr val="1F2233"/>
                </a:solidFill>
                <a:latin typeface="Inter"/>
              </a:rPr>
              <a:t> и </a:t>
            </a:r>
            <a:r>
              <a:rPr sz="1600" b="1">
                <a:solidFill>
                  <a:srgbClr val="434B9A"/>
                </a:solidFill>
                <a:latin typeface="Inter"/>
              </a:rPr>
              <a:t>бодрствование / NREM / REM</a:t>
            </a:r>
            <a:r>
              <a:rPr sz="1600" b="0">
                <a:solidFill>
                  <a:srgbClr val="1F2233"/>
                </a:solidFill>
                <a:latin typeface="Inter"/>
              </a:rPr>
              <a:t> (NREM — неглубокий и глубокий сон N1–N3, REM — сон с быстрыми движениями глаз). Из предсказаний собираются гипнограмма и показатели ночи: время сна, засыпания, пробуждений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 статьи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лучшая модель — нейросеть, обученная на признаках motion + hr + clock. Сон / бодрствование: порог подобран, чтобы найти 93% эпох сна; тогда найдено 59.6% эпох бодрствования и всего верно 90% эпох (κ = 0.45). Три класса: в лучшей точке верно ≈ 72% эпох. На 188 людях из исследования MESA (другой прибор и люди) — сопоставимо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4760" y="15813253"/>
            <a:ext cx="5514480" cy="23633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8266602"/>
            <a:ext cx="11988000" cy="75694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Пример ночи (испытуемый 46343). Сверху вниз: движение — activity counts (условные единицы), пульс с часов (уд/мин), стадии по PSG — правильный ответ; по оси x — часы от начала записи. Видно, что движение почти всегда означает бодрствование, а ровный пульс — глубокий сон N3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76000" y="19608686"/>
            <a:ext cx="12492000" cy="520086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28000" y="19860686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2. Признаки: одно значение на каждую эпоху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28000" y="2040131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20527314"/>
            <a:ext cx="11988000" cy="265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motion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сколько человек двигался: ускорение по оси z → полосовой фильтр 3–11 Гц (убирает гравитацию и шум) → суммы за 15 с («activity counts», как у актиграфов) → сглаживание окном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локальная вариабельность пульса: стандартное отклонение за ≈ 10 мин после полосового фильтра «разность гауссиан» (убирает дрейф за ночь); мала в глубоком сне, велика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clock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фаза суточного ритма: шаги за прошлые дни → оценка освещённости → модель внутренних часов Forger (1999) → волна x(t);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В статье сравнивали также </a:t>
            </a:r>
            <a:r>
              <a:rPr sz="1600" b="1">
                <a:solidFill>
                  <a:srgbClr val="434B9A"/>
                </a:solidFill>
                <a:latin typeface="Inter"/>
              </a:rPr>
              <a:t>cosine</a:t>
            </a:r>
            <a:r>
              <a:rPr sz="1600" b="0">
                <a:solidFill>
                  <a:srgbClr val="1F2233"/>
                </a:solidFill>
                <a:latin typeface="Inter"/>
              </a:rPr>
              <a:t> (одинаковая для всех волна 24 ч) и </a:t>
            </a:r>
            <a:r>
              <a:rPr sz="1600" b="1">
                <a:solidFill>
                  <a:srgbClr val="434B9A"/>
                </a:solidFill>
                <a:latin typeface="Inter"/>
              </a:rPr>
              <a:t>time</a:t>
            </a:r>
            <a:r>
              <a:rPr sz="1600" b="0">
                <a:solidFill>
                  <a:srgbClr val="1F2233"/>
                </a:solidFill>
                <a:latin typeface="Inter"/>
              </a:rPr>
              <a:t> (часы от отбоя); лучший результат — с clock</a:t>
            </a:r>
          </a:p>
        </p:txBody>
      </p:sp>
      <p:pic>
        <p:nvPicPr>
          <p:cNvPr id="34" name="Picture 33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892" y="23179786"/>
            <a:ext cx="2688215" cy="684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628000" y="23971786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x — состояние модели внутренних часов (без единиц). Шкала перевёрнута: clock = 0 — человек лёг, 1 — дно суточного ритма (≈ 4 ч ночи, минимум x); под утро clock снова уменьшается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6000" y="25061556"/>
            <a:ext cx="12492000" cy="57407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28000" y="25313556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3. Модели, проверка и метрики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28000" y="2585418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980184"/>
            <a:ext cx="11988000" cy="19965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16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нейросеть MLP (3 слоя по 15); </a:t>
            </a:r>
            <a:r>
              <a:rPr sz="16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1600" b="0">
                <a:solidFill>
                  <a:srgbClr val="1F2233"/>
                </a:solidFill>
                <a:latin typeface="Inter"/>
              </a:rPr>
              <a:t> в статье — 50 случайных разбиений людей 70/30; у нас — leave-one-subject-out: каждого из 31 человека предсказывает модель, обученная на остальных 30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1600" b="0">
                <a:solidFill>
                  <a:srgbClr val="1F2233"/>
                </a:solidFill>
                <a:latin typeface="Inter"/>
              </a:rPr>
              <a:t> на P(сон) подбирается так, чтобы найти заданную долю сна (в таблицах — 90%), и смотрим, сколько найдено бодрствования</a:t>
            </a:r>
          </a:p>
        </p:txBody>
      </p:sp>
      <p:pic>
        <p:nvPicPr>
          <p:cNvPr id="40" name="Picture 39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501" y="27976738"/>
            <a:ext cx="4798997" cy="57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628000" y="28660738"/>
            <a:ext cx="11988000" cy="1196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Accuracy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верных эпох; </a:t>
            </a:r>
            <a:r>
              <a:rPr sz="1400" b="1">
                <a:solidFill>
                  <a:srgbClr val="434B9A"/>
                </a:solidFill>
                <a:latin typeface="Inter"/>
              </a:rPr>
              <a:t>Найдено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эпох бодрствования, названных бодрствованием (специфичность); </a:t>
            </a:r>
            <a:r>
              <a:rPr sz="1400" b="1">
                <a:solidFill>
                  <a:srgbClr val="434B9A"/>
                </a:solidFill>
                <a:latin typeface="Inter"/>
              </a:rPr>
              <a:t>κ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согласие с PSG сверх случайного (0 — как монетка, 1 — полное)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AUC</a:t>
            </a:r>
            <a:r>
              <a:rPr sz="1400" b="0">
                <a:solidFill>
                  <a:srgbClr val="1F2233"/>
                </a:solidFill>
                <a:latin typeface="Inter"/>
              </a:rPr>
              <a:t> — качество упорядочивания эпох по всем порогам (0.5 — случайно); </a:t>
            </a:r>
            <a:r>
              <a:rPr sz="1400" b="1">
                <a:solidFill>
                  <a:srgbClr val="434B9A"/>
                </a:solidFill>
                <a:latin typeface="Inter"/>
              </a:rPr>
              <a:t>AP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площадь под кривой precision–recall для бодрствования (случайно — 0.084); </a:t>
            </a:r>
            <a:r>
              <a:rPr sz="1400" b="1">
                <a:solidFill>
                  <a:srgbClr val="434B9A"/>
                </a:solidFill>
                <a:latin typeface="Inter"/>
              </a:rPr>
              <a:t>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гармоническое точности и полноты класса, </a:t>
            </a:r>
            <a:r>
              <a:rPr sz="1400" b="1">
                <a:solidFill>
                  <a:srgbClr val="434B9A"/>
                </a:solidFill>
                <a:latin typeface="Inter"/>
              </a:rPr>
              <a:t>Macro 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по классам</a:t>
            </a:r>
          </a:p>
        </p:txBody>
      </p:sp>
      <p:pic>
        <p:nvPicPr>
          <p:cNvPr id="42" name="Picture 41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1865" y="29857194"/>
            <a:ext cx="1407263" cy="612000"/>
          </a:xfrm>
          <a:prstGeom prst="rect">
            <a:avLst/>
          </a:prstGeom>
        </p:spPr>
      </p:pic>
      <p:pic>
        <p:nvPicPr>
          <p:cNvPr id="43" name="Picture 42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9129" y="29857194"/>
            <a:ext cx="2653004" cy="612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2376000" y="31054336"/>
            <a:ext cx="12492000" cy="912166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28000" y="31306336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28000" y="3184696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28000" y="31972964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(признаки motion + hr + clock; порог найдёт 90% сна):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2628000" y="32333278"/>
          <a:ext cx="11987993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51676"/>
                <a:gridCol w="797371"/>
                <a:gridCol w="1001791"/>
                <a:gridCol w="1017016"/>
                <a:gridCol w="797371"/>
                <a:gridCol w="797371"/>
                <a:gridCol w="797371"/>
                <a:gridCol w="797371"/>
                <a:gridCol w="755924"/>
                <a:gridCol w="1001791"/>
                <a:gridCol w="1017016"/>
                <a:gridCol w="755924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 (Monte Carlo)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49" name="TextBox 48"/>
          <p:cNvSpPr txBox="1"/>
          <p:nvPr/>
        </p:nvSpPr>
        <p:spPr>
          <a:xfrm>
            <a:off x="2628000" y="34981656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400" b="0">
                <a:solidFill>
                  <a:srgbClr val="1F2233"/>
                </a:solidFill>
                <a:latin typeface="Inter"/>
              </a:rPr>
              <a:t> (найдено 60% бодрствования; «найдено NREM / REM» — при уравненных долях, «лучшая accuracy» и κ — в лучшей по accuracy точке, как в статье):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2628000" y="35594285"/>
          <a:ext cx="11987995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58951"/>
                <a:gridCol w="1043366"/>
                <a:gridCol w="1043366"/>
                <a:gridCol w="1001072"/>
                <a:gridCol w="823721"/>
                <a:gridCol w="823721"/>
                <a:gridCol w="823721"/>
                <a:gridCol w="1043366"/>
                <a:gridCol w="1043366"/>
                <a:gridCol w="1001072"/>
                <a:gridCol w="782273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0.175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0.130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0.184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0.302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0.228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0.704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0.244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628000" y="38242663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Совпало:</a:t>
            </a:r>
            <a:r>
              <a:rPr sz="1600" b="0">
                <a:solidFill>
                  <a:srgbClr val="1F2233"/>
                </a:solidFill>
                <a:latin typeface="Inter"/>
              </a:rPr>
              <a:t> AUC, accuracy и доли найденных стадий — в пределах 0.01–0.03 от статьи при другой схеме проверки. CatBoost лучший по большинству метрик,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1600" b="0">
                <a:solidFill>
                  <a:srgbClr val="1F2233"/>
                </a:solidFill>
                <a:latin typeface="Inter"/>
              </a:rPr>
              <a:t> бодрствование — 8.4% эпох, и «всегда сон» даёт 0.916 &gt; 0.88 у всех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Слабость:</a:t>
            </a:r>
            <a:r>
              <a:rPr sz="1600" b="0">
                <a:solidFill>
                  <a:srgbClr val="1F2233"/>
                </a:solidFill>
                <a:latin typeface="Inter"/>
              </a:rPr>
              <a:t> найдено ≈ 2/3 бодрствования, но верна лишь каждая третья метка «бодрствование» (PPV 0.36–0.39): тихое бодрствование без движения не видно. REM — самый трудный (F1 ≈ 0.5)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08000" y="10404000"/>
            <a:ext cx="12492000" cy="1012535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660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660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05780" y="11322628"/>
            <a:ext cx="5296438" cy="72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5660000" y="12150628"/>
            <a:ext cx="11988000" cy="35175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Идея: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— «игроки», качество модели — «выигрыш». Модель переобучается на всех 7 непустых подмножествах {motion, hr, clock}; вклад признака φᵢ — его средний прирост метрики по всем порядкам добавления. Отсчёт — от случайной модели (AUC 0.5), сумма вкладов = качество полной модели − 0.5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Почему не просто «качество одного признака»: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частично дублируют друг друга (при движении растёт и пульс). Motion, добавленный первым, даёт +0.29 AUC, а последним — лишь +0.05. Шепли делит общую информацию поровну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Результат:</a:t>
            </a:r>
            <a:r>
              <a:rPr sz="1600" b="0">
                <a:solidFill>
                  <a:srgbClr val="1F2233"/>
                </a:solidFill>
                <a:latin typeface="Inter"/>
              </a:rPr>
              <a:t> motion — около половины прироста, clock — четверть–треть, hr — меньше всех; картина одинакова у всех пяти моделей. Для поиска бодрствования (AP wake) доля пульса падает до 12%: он помогает упорядочить эпохи в целом, но почти не помогает точно находить бодрствование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по эпохам</a:t>
            </a:r>
            <a:r>
              <a:rPr sz="1600" b="0">
                <a:solidFill>
                  <a:srgbClr val="1F2233"/>
                </a:solidFill>
                <a:latin typeface="Inter"/>
              </a:rPr>
              <a:t> (вклад признака в P(сон) конкретной эпохи): покой → сон, движение → бодрствование, начало ночи → бодрствование, ровный пульс → немного к сну</a:t>
            </a:r>
          </a:p>
        </p:txBody>
      </p:sp>
      <p:pic>
        <p:nvPicPr>
          <p:cNvPr id="57" name="Picture 56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99160" y="15668176"/>
            <a:ext cx="10309680" cy="3829309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5408000" y="20781355"/>
            <a:ext cx="12492000" cy="1493603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5660000" y="21033355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660000" y="2157398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660000" y="21699984"/>
            <a:ext cx="11988000" cy="8650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Эксперимент команды: нейросеть MLP (15, 15, 15), порог P(сон) ≥ 0.5, признаки motion, hr и время ночи. Добавили 3 «быстрых» признака, которые считаются по 5-секундным отрезкам: m — корень из суммы дисперсий ускорения по трём осям, τ = 0.02 g, минутное окно W = [t − 15, t + 45) с</a:t>
            </a:r>
          </a:p>
        </p:txBody>
      </p:sp>
      <p:pic>
        <p:nvPicPr>
          <p:cNvPr id="62" name="Picture 61" descr="formula_fpea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266976" y="22673060"/>
            <a:ext cx="2999828" cy="684000"/>
          </a:xfrm>
          <a:prstGeom prst="rect">
            <a:avLst/>
          </a:prstGeom>
        </p:spPr>
      </p:pic>
      <p:pic>
        <p:nvPicPr>
          <p:cNvPr id="63" name="Picture 62" descr="formula_factiv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986804" y="22673060"/>
            <a:ext cx="4312095" cy="684000"/>
          </a:xfrm>
          <a:prstGeom prst="rect">
            <a:avLst/>
          </a:prstGeom>
        </p:spPr>
      </p:pic>
      <p:pic>
        <p:nvPicPr>
          <p:cNvPr id="64" name="Picture 63" descr="formula_fh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018899" y="22673060"/>
            <a:ext cx="2022124" cy="6840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5660000" y="23465060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f_peak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самый сильный короткий всплеск движения в эпохе; логарифм гасит редкие очень большие значения (при max m = 0.04 g получаем ln 3 ≈ 1.1)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f_active</a:t>
            </a:r>
            <a:r>
              <a:rPr sz="1600" b="0">
                <a:solidFill>
                  <a:srgbClr val="1F2233"/>
                </a:solidFill>
                <a:latin typeface="Inter"/>
              </a:rPr>
              <a:t> — как часто двигались в течение минуты: доля 5-секундных отрезков с m ≥ τ (от 0 до 1)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средний пульс за минуту относительно медианы всей записи: +0.1 — на 10% выше обычного для этого человека, −0.05 — на 5% ниже</a:t>
            </a:r>
          </a:p>
        </p:txBody>
      </p:sp>
      <p:pic>
        <p:nvPicPr>
          <p:cNvPr id="66" name="Picture 65" descr="experiment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218440" y="25173255"/>
            <a:ext cx="8871120" cy="33096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660000" y="28572875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Все варианты, которые пробовала команда: точка правее пунктира — лучше исходной модели</a:t>
            </a:r>
          </a:p>
        </p:txBody>
      </p:sp>
      <p:pic>
        <p:nvPicPr>
          <p:cNvPr id="68" name="Picture 67" descr="shap_fast_righ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660000" y="28933189"/>
            <a:ext cx="5179680" cy="471381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660000" y="33737005"/>
            <a:ext cx="517968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SHAP расширенного MLP (график команды)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055680" y="28933189"/>
            <a:ext cx="6592320" cy="52477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Лучше всего — исходные признаки + 3 быстрых:</a:t>
            </a:r>
            <a:r>
              <a:rPr sz="1600" b="0">
                <a:solidFill>
                  <a:srgbClr val="1F2233"/>
                </a:solidFill>
                <a:latin typeface="Inter"/>
              </a:rPr>
              <a:t> κ 0.496 → 0.534, AUC 0.908 → 0.917. Быстрые признаки ловят короткие движения и учащение пульса, которые сглаженный motion «размазывает» по 10 минутам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Помогают</a:t>
            </a:r>
            <a:r>
              <a:rPr sz="1600" b="0">
                <a:solidFill>
                  <a:srgbClr val="1F2233"/>
                </a:solidFill>
                <a:latin typeface="Inter"/>
              </a:rPr>
              <a:t> соседние эпохи и статистики короткого окна: сон «липкий», контекст соседних минут подсказывает стадию. </a:t>
            </a:r>
            <a:r>
              <a:rPr sz="1600" b="1">
                <a:solidFill>
                  <a:srgbClr val="434B9A"/>
                </a:solidFill>
                <a:latin typeface="Inter"/>
              </a:rPr>
              <a:t>Не помогают</a:t>
            </a:r>
            <a:r>
              <a:rPr sz="1600" b="0">
                <a:solidFill>
                  <a:srgbClr val="1F2233"/>
                </a:solidFill>
                <a:latin typeface="Inter"/>
              </a:rPr>
              <a:t> повтор примеров бодрствования (модель переобучается на редких примерах, AUC падает) и разности соседних эпох без сглаживания (слишком шумные)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расширенной модели:</a:t>
            </a:r>
            <a:r>
              <a:rPr sz="1600" b="0">
                <a:solidFill>
                  <a:srgbClr val="1F2233"/>
                </a:solidFill>
                <a:latin typeface="Inter"/>
              </a:rPr>
              <a:t> доля движения за минуту (|SHAP| 0.024) работает почти как motion (0.034); пик движения и относительный пульс слабее (0.009 и 0.005); время ночи остаётся самым сильным признаком (0.049)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Ограничение:</a:t>
            </a:r>
            <a:r>
              <a:rPr sz="1600" b="0">
                <a:solidFill>
                  <a:srgbClr val="1F2233"/>
                </a:solidFill>
                <a:latin typeface="Inter"/>
              </a:rPr>
              <a:t> окно заглядывает на 15 с вперёд, а медиана пульса берётся по всей записи — это анализ готовой записи, а не предсказание в реальном времени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660000" y="3418089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1F2233"/>
                </a:solidFill>
                <a:latin typeface="Inter"/>
              </a:rPr>
              <a:t>Те же признаки добавлены к </a:t>
            </a:r>
            <a:r>
              <a:rPr sz="1400" b="1">
                <a:solidFill>
                  <a:srgbClr val="434B9A"/>
                </a:solidFill>
                <a:latin typeface="Inter"/>
              </a:rPr>
              <a:t>CatBoost</a:t>
            </a:r>
            <a:r>
              <a:rPr sz="1400" b="0">
                <a:solidFill>
                  <a:srgbClr val="1F2233"/>
                </a:solidFill>
                <a:latin typeface="Inter"/>
              </a:rPr>
              <a:t> и нейросети в общей постановке проекта (motion, hr, clock; leave-one-subject-out): python repro/10_fast_features.py — после запуска таблица появится здесь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408000" y="35969389"/>
            <a:ext cx="12492000" cy="420661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660000" y="36221389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660000" y="36762017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5660000" y="36888017"/>
            <a:ext cx="11988000" cy="23641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1.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Воспроизвели статью</a:t>
            </a:r>
            <a:r>
              <a:rPr sz="1600" b="0">
                <a:solidFill>
                  <a:srgbClr val="1F2233"/>
                </a:solidFill>
                <a:latin typeface="Inter"/>
              </a:rPr>
              <a:t> на открытых данных и современном Python: AUC 0.86–0.88 и доли найденных стадий — как у авторов; добавленный CatBoost — AUC 0.880, лучший, но с минимальным отрывом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2.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Главные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движение и время ночи (clock); пульс добавляет меньше всего, особенно для поиска бодрствования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3.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Слабые места</a:t>
            </a:r>
            <a:r>
              <a:rPr sz="1600" b="0">
                <a:solidFill>
                  <a:srgbClr val="1F2233"/>
                </a:solidFill>
                <a:latin typeface="Inter"/>
              </a:rPr>
              <a:t> — тихое бодрствование без движения и REM; accuracy это скрывает, поэтому нужны κ, F1 и AP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4.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Быстрые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движения и пульса за 5 секунд — минуту поднимают κ нейросети с 0.496 до 0.534 и AUC с 0.908 до 0.917; их проверка на CatBoost — в репозитории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76000" y="40391999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5B6075"/>
                </a:solidFill>
                <a:latin typeface="Inter"/>
              </a:rPr>
              <a:t>Код и все результаты:</a:t>
            </a:r>
            <a:r>
              <a:rPr sz="1900" b="0">
                <a:solidFill>
                  <a:srgbClr val="5B6075"/>
                </a:solidFill>
                <a:latin typeface="Inter"/>
              </a:rPr>
              <a:t> github.com/AlisaPopova25/ai_school_october      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